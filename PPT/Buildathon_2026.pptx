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2F38AE3-0F50-43BE-87CE-8C004444222F}" type="datetimeFigureOut">
              <a:t>9/10/2026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66E82F0D-961F-4D73-80E0-9CF75BCBA623}" type="slidenum">
              <a:t>‹#›</a:t>
            </a:fld>
            <a:endParaRPr lang="en-US"/>
          </a:p>
        </p:txBody>
      </p:sp>
    </p:spTree>
    <p:extLst>
      <p:ext uri="{BB962C8B-B14F-4D97-AF65-F5344CB8AC3E}">
        <p14:creationId xmlns:p14="http://schemas.microsoft.com/office/powerpoint/2010/main" val="60085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Technology choices reflect the proposed standalone MVP architecture supplied by the user.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UILDATHON">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E97132"/>
          </a:solidFill>
          <a:ln w="12700">
            <a:solidFill>
              <a:srgbClr val="E97132"/>
            </a:solidFill>
            <a:prstDash val="solid"/>
          </a:ln>
        </p:spPr>
      </p:sp>
      <p:sp>
        <p:nvSpPr>
          <p:cNvPr id="3" name="Shape 1"/>
          <p:cNvSpPr/>
          <p:nvPr/>
        </p:nvSpPr>
        <p:spPr>
          <a:xfrm>
            <a:off x="320040" y="6473952"/>
            <a:ext cx="11539728" cy="0"/>
          </a:xfrm>
          <a:prstGeom prst="line">
            <a:avLst/>
          </a:prstGeom>
          <a:noFill/>
          <a:ln w="10160">
            <a:solidFill>
              <a:srgbClr val="D9E1E8"/>
            </a:solidFill>
            <a:prstDash val="solid"/>
          </a:ln>
        </p:spPr>
      </p:sp>
      <p:sp>
        <p:nvSpPr>
          <p:cNvPr id="4" name="Text 2"/>
          <p:cNvSpPr/>
          <p:nvPr/>
        </p:nvSpPr>
        <p:spPr>
          <a:xfrm>
            <a:off x="384048" y="6519672"/>
            <a:ext cx="10378440" cy="182880"/>
          </a:xfrm>
          <a:prstGeom prst="rect">
            <a:avLst/>
          </a:prstGeom>
          <a:noFill/>
          <a:ln/>
        </p:spPr>
        <p:txBody>
          <a:bodyPr wrap="square" lIns="0" tIns="0" rIns="0" bIns="0" rtlCol="0" anchor="ctr"/>
          <a:lstStyle/>
          <a:p>
            <a:pPr marL="0" indent="0">
              <a:buNone/>
            </a:pPr>
            <a:r>
              <a:rPr lang="en-US" sz="700" b="1" dirty="0">
                <a:solidFill>
                  <a:srgbClr val="526372"/>
                </a:solidFill>
                <a:latin typeface="Aptos" pitchFamily="34" charset="0"/>
                <a:ea typeface="Aptos" pitchFamily="34" charset="-122"/>
                <a:cs typeface="Aptos" pitchFamily="34" charset="-120"/>
              </a:rPr>
              <a:t>INFO EDGE AI AGENTIC BUILDATHON 2026  •  FROM IDEA TO AGENT #NIRMAAN</a:t>
            </a:r>
            <a:endParaRPr lang="en-US" sz="700" dirty="0"/>
          </a:p>
        </p:txBody>
      </p:sp>
      <p:sp>
        <p:nvSpPr>
          <p:cNvPr id="5" name="Text 3"/>
          <p:cNvSpPr/>
          <p:nvPr/>
        </p:nvSpPr>
        <p:spPr>
          <a:xfrm>
            <a:off x="10561320" y="6501384"/>
            <a:ext cx="1143000" cy="201168"/>
          </a:xfrm>
          <a:prstGeom prst="rect">
            <a:avLst/>
          </a:prstGeom>
          <a:noFill/>
          <a:ln/>
        </p:spPr>
        <p:txBody>
          <a:bodyPr wrap="square" lIns="0" tIns="0" rIns="0" bIns="0" rtlCol="0" anchor="ctr"/>
          <a:lstStyle/>
          <a:p>
            <a:pPr marL="0" indent="0" algn="r">
              <a:buNone/>
            </a:pPr>
            <a:r>
              <a:rPr lang="en-US" sz="700" b="1" dirty="0">
                <a:solidFill>
                  <a:srgbClr val="E97132"/>
                </a:solidFill>
                <a:latin typeface="Aptos" pitchFamily="34" charset="0"/>
                <a:ea typeface="Aptos" pitchFamily="34" charset="-122"/>
                <a:cs typeface="Aptos" pitchFamily="34" charset="-120"/>
              </a:rPr>
              <a:t>TEAM2PRIMARY</a:t>
            </a:r>
            <a:endParaRPr lang="en-US" sz="700" dirty="0"/>
          </a:p>
        </p:txBody>
      </p:sp>
      <p:sp>
        <p:nvSpPr>
          <p:cNvPr id="25" name="Slide Number Placeholder 0"/>
          <p:cNvSpPr>
            <a:spLocks noGrp="1"/>
          </p:cNvSpPr>
          <p:nvPr>
            <p:ph type="sldNum" sz="quarter" idx="4294967295"/>
          </p:nvPr>
        </p:nvSpPr>
        <p:spPr>
          <a:xfrm>
            <a:off x="11777472" y="650138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A899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77472" y="650138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A899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46304" y="0"/>
            <a:ext cx="12042648" cy="6473952"/>
          </a:xfrm>
          <a:prstGeom prst="rect">
            <a:avLst/>
          </a:prstGeom>
          <a:solidFill>
            <a:srgbClr val="0E2841"/>
          </a:solidFill>
          <a:ln w="12700">
            <a:solidFill>
              <a:srgbClr val="0E2841"/>
            </a:solidFill>
            <a:prstDash val="solid"/>
          </a:ln>
        </p:spPr>
      </p:sp>
      <p:sp>
        <p:nvSpPr>
          <p:cNvPr id="3" name="Shape 1"/>
          <p:cNvSpPr/>
          <p:nvPr/>
        </p:nvSpPr>
        <p:spPr>
          <a:xfrm>
            <a:off x="146304" y="0"/>
            <a:ext cx="109728" cy="6473952"/>
          </a:xfrm>
          <a:prstGeom prst="rect">
            <a:avLst/>
          </a:prstGeom>
          <a:solidFill>
            <a:srgbClr val="E97132"/>
          </a:solidFill>
          <a:ln w="12700">
            <a:solidFill>
              <a:srgbClr val="E97132"/>
            </a:solidFill>
            <a:prstDash val="solid"/>
          </a:ln>
        </p:spPr>
      </p:sp>
      <p:pic>
        <p:nvPicPr>
          <p:cNvPr id="4" name="Image 0" descr="/mnt/data/0c38be3c4e.png"/>
          <p:cNvPicPr>
            <a:picLocks noChangeAspect="1"/>
          </p:cNvPicPr>
          <p:nvPr/>
        </p:nvPicPr>
        <p:blipFill>
          <a:blip r:embed="rId3"/>
          <a:srcRect l="24670" r="24670"/>
          <a:stretch/>
        </p:blipFill>
        <p:spPr>
          <a:xfrm>
            <a:off x="7269480" y="0"/>
            <a:ext cx="4919472" cy="6473952"/>
          </a:xfrm>
          <a:prstGeom prst="rect">
            <a:avLst/>
          </a:prstGeom>
        </p:spPr>
      </p:pic>
      <p:sp>
        <p:nvSpPr>
          <p:cNvPr id="5" name="Shape 2"/>
          <p:cNvSpPr/>
          <p:nvPr/>
        </p:nvSpPr>
        <p:spPr>
          <a:xfrm>
            <a:off x="6583680" y="0"/>
            <a:ext cx="5605272" cy="6473952"/>
          </a:xfrm>
          <a:prstGeom prst="rect">
            <a:avLst/>
          </a:prstGeom>
          <a:solidFill>
            <a:srgbClr val="0E2841">
              <a:alpha val="58000"/>
            </a:srgbClr>
          </a:solidFill>
          <a:ln w="12700">
            <a:solidFill>
              <a:srgbClr val="0E2841">
                <a:alpha val="0"/>
              </a:srgbClr>
            </a:solidFill>
            <a:prstDash val="solid"/>
          </a:ln>
        </p:spPr>
      </p:sp>
      <p:sp>
        <p:nvSpPr>
          <p:cNvPr id="6" name="Text 3"/>
          <p:cNvSpPr/>
          <p:nvPr/>
        </p:nvSpPr>
        <p:spPr>
          <a:xfrm>
            <a:off x="658368" y="713232"/>
            <a:ext cx="5623560" cy="658368"/>
          </a:xfrm>
          <a:prstGeom prst="rect">
            <a:avLst/>
          </a:prstGeom>
          <a:noFill/>
          <a:ln/>
        </p:spPr>
        <p:txBody>
          <a:bodyPr wrap="square" lIns="0" tIns="0" rIns="0" bIns="0" rtlCol="0" anchor="ct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ReproAgent</a:t>
            </a:r>
            <a:endParaRPr lang="en-US" sz="3400" dirty="0"/>
          </a:p>
        </p:txBody>
      </p:sp>
      <p:sp>
        <p:nvSpPr>
          <p:cNvPr id="7" name="Text 4"/>
          <p:cNvSpPr/>
          <p:nvPr/>
        </p:nvSpPr>
        <p:spPr>
          <a:xfrm>
            <a:off x="658368" y="1527048"/>
            <a:ext cx="5669280" cy="1024128"/>
          </a:xfrm>
          <a:prstGeom prst="rect">
            <a:avLst/>
          </a:prstGeom>
          <a:noFill/>
          <a:ln/>
        </p:spPr>
        <p:txBody>
          <a:bodyPr wrap="square" lIns="0" tIns="0" rIns="0" bIns="0" rtlCol="0" anchor="ctr"/>
          <a:lstStyle/>
          <a:p>
            <a:pPr marL="0" indent="0">
              <a:buNone/>
            </a:pPr>
            <a:r>
              <a:rPr lang="en-US" sz="2400" b="1" dirty="0">
                <a:solidFill>
                  <a:srgbClr val="D8EFF8"/>
                </a:solidFill>
                <a:latin typeface="Aptos Display" pitchFamily="34" charset="0"/>
                <a:ea typeface="Aptos Display" pitchFamily="34" charset="-122"/>
                <a:cs typeface="Aptos Display" pitchFamily="34" charset="-120"/>
              </a:rPr>
              <a:t>AI-Powered Bug Investigation</a:t>
            </a:r>
            <a:endParaRPr lang="en-US" sz="2400" dirty="0"/>
          </a:p>
          <a:p>
            <a:pPr marL="0" indent="0">
              <a:buNone/>
            </a:pPr>
            <a:r>
              <a:rPr lang="en-US" sz="2400" b="1" dirty="0">
                <a:solidFill>
                  <a:srgbClr val="D8EFF8"/>
                </a:solidFill>
                <a:latin typeface="Aptos Display" pitchFamily="34" charset="0"/>
                <a:ea typeface="Aptos Display" pitchFamily="34" charset="-122"/>
                <a:cs typeface="Aptos Display" pitchFamily="34" charset="-120"/>
              </a:rPr>
              <a:t>&amp; Reproduction</a:t>
            </a:r>
            <a:endParaRPr lang="en-US" sz="2400" dirty="0"/>
          </a:p>
        </p:txBody>
      </p:sp>
      <p:sp>
        <p:nvSpPr>
          <p:cNvPr id="8" name="Text 5"/>
          <p:cNvSpPr/>
          <p:nvPr/>
        </p:nvSpPr>
        <p:spPr>
          <a:xfrm>
            <a:off x="676656" y="2788920"/>
            <a:ext cx="5349240" cy="384048"/>
          </a:xfrm>
          <a:prstGeom prst="rect">
            <a:avLst/>
          </a:prstGeom>
          <a:noFill/>
          <a:ln/>
        </p:spPr>
        <p:txBody>
          <a:bodyPr wrap="square" lIns="0" tIns="0" rIns="0" bIns="0" rtlCol="0" anchor="ctr"/>
          <a:lstStyle/>
          <a:p>
            <a:pPr marL="0" indent="0">
              <a:buNone/>
            </a:pPr>
            <a:r>
              <a:rPr lang="en-US" sz="1400" i="1" dirty="0">
                <a:solidFill>
                  <a:srgbClr val="B9D4E1"/>
                </a:solidFill>
              </a:rPr>
              <a:t>Run more. Capture more. Understand failures faster.</a:t>
            </a:r>
            <a:endParaRPr lang="en-US" sz="1400" dirty="0"/>
          </a:p>
        </p:txBody>
      </p:sp>
      <p:sp>
        <p:nvSpPr>
          <p:cNvPr id="9" name="Shape 6"/>
          <p:cNvSpPr/>
          <p:nvPr/>
        </p:nvSpPr>
        <p:spPr>
          <a:xfrm>
            <a:off x="676656" y="3401568"/>
            <a:ext cx="1417320" cy="310896"/>
          </a:xfrm>
          <a:prstGeom prst="roundRect">
            <a:avLst>
              <a:gd name="adj" fmla="val 23529"/>
            </a:avLst>
          </a:prstGeom>
          <a:solidFill>
            <a:srgbClr val="E97132"/>
          </a:solidFill>
          <a:ln w="12700">
            <a:solidFill>
              <a:srgbClr val="E97132"/>
            </a:solidFill>
            <a:prstDash val="solid"/>
          </a:ln>
        </p:spPr>
      </p:sp>
      <p:sp>
        <p:nvSpPr>
          <p:cNvPr id="10" name="Text 7"/>
          <p:cNvSpPr/>
          <p:nvPr/>
        </p:nvSpPr>
        <p:spPr>
          <a:xfrm>
            <a:off x="731520" y="3465576"/>
            <a:ext cx="1307592" cy="146304"/>
          </a:xfrm>
          <a:prstGeom prst="rect">
            <a:avLst/>
          </a:prstGeom>
          <a:noFill/>
          <a:ln/>
        </p:spPr>
        <p:txBody>
          <a:bodyPr wrap="square" lIns="0" tIns="0" rIns="0" bIns="0" rtlCol="0" anchor="ctr"/>
          <a:lstStyle/>
          <a:p>
            <a:pPr marL="0" indent="0" algn="ctr">
              <a:buNone/>
            </a:pPr>
            <a:r>
              <a:rPr lang="en-US" sz="850" b="1" dirty="0">
                <a:solidFill>
                  <a:srgbClr val="FFFFFF"/>
                </a:solidFill>
              </a:rPr>
              <a:t>HUMAN-GUIDED</a:t>
            </a:r>
            <a:endParaRPr lang="en-US" sz="850" dirty="0"/>
          </a:p>
        </p:txBody>
      </p:sp>
      <p:sp>
        <p:nvSpPr>
          <p:cNvPr id="11" name="Shape 8"/>
          <p:cNvSpPr/>
          <p:nvPr/>
        </p:nvSpPr>
        <p:spPr>
          <a:xfrm>
            <a:off x="2221992" y="3401568"/>
            <a:ext cx="1572768" cy="310896"/>
          </a:xfrm>
          <a:prstGeom prst="roundRect">
            <a:avLst>
              <a:gd name="adj" fmla="val 23529"/>
            </a:avLst>
          </a:prstGeom>
          <a:solidFill>
            <a:srgbClr val="0F9ED5"/>
          </a:solidFill>
          <a:ln w="12700">
            <a:solidFill>
              <a:srgbClr val="0F9ED5"/>
            </a:solidFill>
            <a:prstDash val="solid"/>
          </a:ln>
        </p:spPr>
      </p:sp>
      <p:sp>
        <p:nvSpPr>
          <p:cNvPr id="12" name="Text 9"/>
          <p:cNvSpPr/>
          <p:nvPr/>
        </p:nvSpPr>
        <p:spPr>
          <a:xfrm>
            <a:off x="2276856" y="3465576"/>
            <a:ext cx="1463040" cy="146304"/>
          </a:xfrm>
          <a:prstGeom prst="rect">
            <a:avLst/>
          </a:prstGeom>
          <a:noFill/>
          <a:ln/>
        </p:spPr>
        <p:txBody>
          <a:bodyPr wrap="square" lIns="0" tIns="0" rIns="0" bIns="0" rtlCol="0" anchor="ctr"/>
          <a:lstStyle/>
          <a:p>
            <a:pPr marL="0" indent="0" algn="ctr">
              <a:buNone/>
            </a:pPr>
            <a:r>
              <a:rPr lang="en-US" sz="850" b="1" dirty="0">
                <a:solidFill>
                  <a:srgbClr val="FFFFFF"/>
                </a:solidFill>
              </a:rPr>
              <a:t>CHROME-FOCUSED</a:t>
            </a:r>
            <a:endParaRPr lang="en-US" sz="850" dirty="0"/>
          </a:p>
        </p:txBody>
      </p:sp>
      <p:sp>
        <p:nvSpPr>
          <p:cNvPr id="13" name="Shape 10"/>
          <p:cNvSpPr/>
          <p:nvPr/>
        </p:nvSpPr>
        <p:spPr>
          <a:xfrm>
            <a:off x="3931920" y="3401568"/>
            <a:ext cx="1664208" cy="310896"/>
          </a:xfrm>
          <a:prstGeom prst="roundRect">
            <a:avLst>
              <a:gd name="adj" fmla="val 23529"/>
            </a:avLst>
          </a:prstGeom>
          <a:solidFill>
            <a:srgbClr val="156082"/>
          </a:solidFill>
          <a:ln w="12700">
            <a:solidFill>
              <a:srgbClr val="156082"/>
            </a:solidFill>
            <a:prstDash val="solid"/>
          </a:ln>
        </p:spPr>
      </p:sp>
      <p:sp>
        <p:nvSpPr>
          <p:cNvPr id="14" name="Text 11"/>
          <p:cNvSpPr/>
          <p:nvPr/>
        </p:nvSpPr>
        <p:spPr>
          <a:xfrm>
            <a:off x="3986784" y="3465576"/>
            <a:ext cx="1554480" cy="146304"/>
          </a:xfrm>
          <a:prstGeom prst="rect">
            <a:avLst/>
          </a:prstGeom>
          <a:noFill/>
          <a:ln/>
        </p:spPr>
        <p:txBody>
          <a:bodyPr wrap="square" lIns="0" tIns="0" rIns="0" bIns="0" rtlCol="0" anchor="ctr"/>
          <a:lstStyle/>
          <a:p>
            <a:pPr marL="0" indent="0" algn="ctr">
              <a:buNone/>
            </a:pPr>
            <a:r>
              <a:rPr lang="en-US" sz="850" b="1" dirty="0">
                <a:solidFill>
                  <a:srgbClr val="FFFFFF"/>
                </a:solidFill>
              </a:rPr>
              <a:t>EVIDENCE-DRIVEN</a:t>
            </a:r>
            <a:endParaRPr lang="en-US" sz="850" dirty="0"/>
          </a:p>
        </p:txBody>
      </p:sp>
      <p:sp>
        <p:nvSpPr>
          <p:cNvPr id="15" name="Shape 12"/>
          <p:cNvSpPr/>
          <p:nvPr/>
        </p:nvSpPr>
        <p:spPr>
          <a:xfrm>
            <a:off x="658368" y="4087368"/>
            <a:ext cx="5623560" cy="1417320"/>
          </a:xfrm>
          <a:prstGeom prst="roundRect">
            <a:avLst>
              <a:gd name="adj" fmla="val 5161"/>
            </a:avLst>
          </a:prstGeom>
          <a:solidFill>
            <a:srgbClr val="173A56">
              <a:alpha val="90000"/>
            </a:srgbClr>
          </a:solidFill>
          <a:ln w="12700">
            <a:solidFill>
              <a:srgbClr val="3D6D89"/>
            </a:solidFill>
            <a:prstDash val="solid"/>
          </a:ln>
        </p:spPr>
      </p:sp>
      <p:sp>
        <p:nvSpPr>
          <p:cNvPr id="16" name="Text 13"/>
          <p:cNvSpPr/>
          <p:nvPr/>
        </p:nvSpPr>
        <p:spPr>
          <a:xfrm>
            <a:off x="896112" y="4325112"/>
            <a:ext cx="5193792" cy="960120"/>
          </a:xfrm>
          <a:prstGeom prst="rect">
            <a:avLst/>
          </a:prstGeom>
          <a:noFill/>
          <a:ln/>
        </p:spPr>
        <p:txBody>
          <a:bodyPr wrap="square" lIns="0" tIns="0" rIns="0" bIns="0" rtlCol="0" anchor="ctr"/>
          <a:lstStyle/>
          <a:p>
            <a:pPr marL="0" indent="0">
              <a:buNone/>
            </a:pPr>
            <a:r>
              <a:rPr lang="en-US" sz="1050" b="1" dirty="0">
                <a:solidFill>
                  <a:srgbClr val="8CCCE8"/>
                </a:solidFill>
              </a:rPr>
              <a:t>Team Name: </a:t>
            </a:r>
            <a:r>
              <a:rPr lang="en-US" sz="1050" dirty="0">
                <a:solidFill>
                  <a:srgbClr val="FFFFFF"/>
                </a:solidFill>
              </a:rPr>
              <a:t>Team2Primary</a:t>
            </a:r>
            <a:endParaRPr lang="en-US" sz="1050" dirty="0"/>
          </a:p>
          <a:p>
            <a:pPr marL="0" indent="0">
              <a:buNone/>
            </a:pPr>
            <a:r>
              <a:rPr lang="en-US" sz="1050" b="1" dirty="0">
                <a:solidFill>
                  <a:srgbClr val="8CCCE8"/>
                </a:solidFill>
              </a:rPr>
              <a:t>Team Captain: </a:t>
            </a:r>
            <a:endParaRPr lang="en-US" sz="1050" dirty="0"/>
          </a:p>
          <a:p>
            <a:pPr marL="0" indent="0">
              <a:buNone/>
            </a:pPr>
            <a:r>
              <a:rPr lang="en-US" sz="1050" dirty="0">
                <a:solidFill>
                  <a:srgbClr val="FFFFFF"/>
                </a:solidFill>
              </a:rPr>
              <a:t>Gantantra Agrawal</a:t>
            </a:r>
            <a:endParaRPr lang="en-US" sz="1050" dirty="0"/>
          </a:p>
          <a:p>
            <a:pPr marL="0" indent="0">
              <a:buNone/>
            </a:pPr>
            <a:r>
              <a:rPr lang="en-US" sz="1050" b="1" dirty="0">
                <a:solidFill>
                  <a:srgbClr val="8CCCE8"/>
                </a:solidFill>
              </a:rPr>
              <a:t>Captain Email: </a:t>
            </a:r>
            <a:endParaRPr lang="en-US" sz="1050" dirty="0"/>
          </a:p>
          <a:p>
            <a:pPr marL="0" indent="0">
              <a:buNone/>
            </a:pPr>
            <a:r>
              <a:rPr lang="en-US" sz="1050" dirty="0">
                <a:solidFill>
                  <a:srgbClr val="FFFFFF"/>
                </a:solidFill>
              </a:rPr>
              <a:t>gantantra.agrawal@99acres.com</a:t>
            </a:r>
            <a:endParaRPr lang="en-US" sz="1050" dirty="0"/>
          </a:p>
          <a:p>
            <a:pPr marL="0" indent="0">
              <a:buNone/>
            </a:pPr>
            <a:r>
              <a:rPr lang="en-US" sz="1050" b="1" dirty="0">
                <a:solidFill>
                  <a:srgbClr val="8CCCE8"/>
                </a:solidFill>
              </a:rPr>
              <a:t>Team ID: </a:t>
            </a:r>
            <a:endParaRPr lang="en-US" sz="1050" dirty="0"/>
          </a:p>
          <a:p>
            <a:pPr marL="0" indent="0">
              <a:buNone/>
            </a:pPr>
            <a:r>
              <a:rPr lang="en-US" sz="1050" dirty="0">
                <a:solidFill>
                  <a:srgbClr val="FFFFFF"/>
                </a:solidFill>
              </a:rPr>
              <a:t>216</a:t>
            </a:r>
            <a:r>
              <a:rPr lang="en-US" sz="1050" b="1" dirty="0">
                <a:solidFill>
                  <a:srgbClr val="8CCCE8"/>
                </a:solidFill>
              </a:rPr>
              <a:t>   |   Team Member: </a:t>
            </a:r>
            <a:r>
              <a:rPr lang="en-US" sz="1050" dirty="0">
                <a:solidFill>
                  <a:srgbClr val="FFFFFF"/>
                </a:solidFill>
              </a:rPr>
              <a:t>gantantra.agrawal@99acres.com</a:t>
            </a:r>
            <a:endParaRPr lang="en-US" sz="1050" dirty="0"/>
          </a:p>
        </p:txBody>
      </p:sp>
      <p:sp>
        <p:nvSpPr>
          <p:cNvPr id="17" name="Text 14"/>
          <p:cNvSpPr/>
          <p:nvPr/>
        </p:nvSpPr>
        <p:spPr>
          <a:xfrm>
            <a:off x="685800" y="5806440"/>
            <a:ext cx="5623560" cy="228600"/>
          </a:xfrm>
          <a:prstGeom prst="rect">
            <a:avLst/>
          </a:prstGeom>
          <a:noFill/>
          <a:ln/>
        </p:spPr>
        <p:txBody>
          <a:bodyPr wrap="square" lIns="0" tIns="0" rIns="0" bIns="0" rtlCol="0" anchor="ctr"/>
          <a:lstStyle/>
          <a:p>
            <a:pPr marL="0" indent="0">
              <a:buNone/>
            </a:pPr>
            <a:r>
              <a:rPr lang="en-US" sz="900" b="1" kern="0" spc="60" dirty="0">
                <a:solidFill>
                  <a:srgbClr val="E97132"/>
                </a:solidFill>
              </a:rPr>
              <a:t>PROTOTYPE: ALMOST COMPLETE • CURRENTLY UNDER TESTING</a:t>
            </a:r>
            <a:endParaRPr lang="en-US" sz="900" dirty="0"/>
          </a:p>
        </p:txBody>
      </p:sp>
      <p:sp>
        <p:nvSpPr>
          <p:cNvPr id="25" name="Slide Number Placeholder 0"/>
          <p:cNvSpPr>
            <a:spLocks noGrp="1"/>
          </p:cNvSpPr>
          <p:nvPr>
            <p:ph type="sldNum" sz="quarter" idx="4294967295"/>
          </p:nvPr>
        </p:nvSpPr>
        <p:spPr>
          <a:xfrm>
            <a:off x="11777472" y="650138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A8996"/>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3776" y="274320"/>
            <a:ext cx="3474720" cy="201168"/>
          </a:xfrm>
          <a:prstGeom prst="rect">
            <a:avLst/>
          </a:prstGeom>
          <a:noFill/>
          <a:ln/>
        </p:spPr>
        <p:txBody>
          <a:bodyPr wrap="square" lIns="0" tIns="0" rIns="0" bIns="0" rtlCol="0" anchor="ctr"/>
          <a:lstStyle/>
          <a:p>
            <a:pPr marL="0" indent="0">
              <a:buNone/>
            </a:pPr>
            <a:r>
              <a:rPr lang="en-US" sz="850" b="1" kern="0" spc="120" dirty="0">
                <a:solidFill>
                  <a:srgbClr val="E97132"/>
                </a:solidFill>
              </a:rPr>
              <a:t>THE PROBLEM AND OUR ANSWER</a:t>
            </a:r>
            <a:endParaRPr lang="en-US" sz="850" dirty="0"/>
          </a:p>
        </p:txBody>
      </p:sp>
      <p:sp>
        <p:nvSpPr>
          <p:cNvPr id="3" name="Text 1"/>
          <p:cNvSpPr/>
          <p:nvPr/>
        </p:nvSpPr>
        <p:spPr>
          <a:xfrm>
            <a:off x="475488" y="502920"/>
            <a:ext cx="7955280" cy="566928"/>
          </a:xfrm>
          <a:prstGeom prst="rect">
            <a:avLst/>
          </a:prstGeom>
          <a:noFill/>
          <a:ln/>
        </p:spPr>
        <p:txBody>
          <a:bodyPr wrap="square" lIns="0" tIns="0" rIns="0" bIns="0" rtlCol="0" anchor="ctr"/>
          <a:lstStyle/>
          <a:p>
            <a:pPr marL="0" indent="0">
              <a:buNone/>
            </a:pPr>
            <a:r>
              <a:rPr lang="en-US" sz="2500" b="1" dirty="0">
                <a:solidFill>
                  <a:srgbClr val="0E2841"/>
                </a:solidFill>
                <a:latin typeface="Aptos Display" pitchFamily="34" charset="0"/>
                <a:ea typeface="Aptos Display" pitchFamily="34" charset="-122"/>
                <a:cs typeface="Aptos Display" pitchFamily="34" charset="-120"/>
              </a:rPr>
              <a:t>Idea Summary</a:t>
            </a:r>
            <a:endParaRPr lang="en-US" sz="2500" dirty="0"/>
          </a:p>
        </p:txBody>
      </p:sp>
      <p:sp>
        <p:nvSpPr>
          <p:cNvPr id="4" name="Shape 2"/>
          <p:cNvSpPr/>
          <p:nvPr/>
        </p:nvSpPr>
        <p:spPr>
          <a:xfrm>
            <a:off x="493776" y="1133856"/>
            <a:ext cx="914400" cy="0"/>
          </a:xfrm>
          <a:prstGeom prst="line">
            <a:avLst/>
          </a:prstGeom>
          <a:noFill/>
          <a:ln w="38100">
            <a:solidFill>
              <a:srgbClr val="E97132"/>
            </a:solidFill>
            <a:prstDash val="solid"/>
          </a:ln>
        </p:spPr>
      </p:sp>
      <p:sp>
        <p:nvSpPr>
          <p:cNvPr id="5" name="Text 3"/>
          <p:cNvSpPr/>
          <p:nvPr/>
        </p:nvSpPr>
        <p:spPr>
          <a:xfrm>
            <a:off x="566928" y="1444752"/>
            <a:ext cx="5760720" cy="868680"/>
          </a:xfrm>
          <a:prstGeom prst="rect">
            <a:avLst/>
          </a:prstGeom>
          <a:noFill/>
          <a:ln/>
        </p:spPr>
        <p:txBody>
          <a:bodyPr wrap="square" lIns="0" tIns="0" rIns="0" bIns="0" rtlCol="0" anchor="ctr"/>
          <a:lstStyle/>
          <a:p>
            <a:pPr marL="0" indent="0">
              <a:buNone/>
            </a:pPr>
            <a:r>
              <a:rPr lang="en-US" sz="1600" b="1" dirty="0">
                <a:solidFill>
                  <a:srgbClr val="0E2841"/>
                </a:solidFill>
              </a:rPr>
              <a:t>Intermittent web bugs are expensive to investigate because the evidence is scattered across repeated browser sessions, console logs, network traffic, screenshots and human memory.</a:t>
            </a:r>
            <a:endParaRPr lang="en-US" sz="1600" dirty="0"/>
          </a:p>
        </p:txBody>
      </p:sp>
      <p:sp>
        <p:nvSpPr>
          <p:cNvPr id="6" name="Text 4"/>
          <p:cNvSpPr/>
          <p:nvPr/>
        </p:nvSpPr>
        <p:spPr>
          <a:xfrm>
            <a:off x="566928" y="2487168"/>
            <a:ext cx="5806440" cy="3154680"/>
          </a:xfrm>
          <a:prstGeom prst="rect">
            <a:avLst/>
          </a:prstGeom>
          <a:noFill/>
          <a:ln/>
        </p:spPr>
        <p:txBody>
          <a:bodyPr wrap="square" lIns="254" tIns="254" rIns="254" bIns="254" rtlCol="0" anchor="ctr"/>
          <a:lstStyle/>
          <a:p>
            <a:pPr marL="0" indent="0">
              <a:buNone/>
            </a:pPr>
            <a:r>
              <a:rPr lang="en-US" sz="1300" dirty="0">
                <a:solidFill>
                  <a:srgbClr val="526372"/>
                </a:solidFill>
              </a:rPr>
              <a:t>ReproAgent enables QA engineers to describe or record a suspected Chrome flow, approve intelligent variations, and run each case repeatedly in controlled desktop or mobile-emulated sessions. For every run, the agent captures authorized client-observable evidence, including actions, console events, network activity, DOM state, screenshots, video and timing. DeepSeek then compares passing and failing sessions, highlights probable triggers, measures reproduction frequency, and helps reduce long sessions into concise reproducible steps and static Playwright tests. Human approval remains mandatory before execution, failure classification and final reproduction. The result is faster triage, stronger coverage and developer-ready defect reports without requiring QA to manually correlate every signal.</a:t>
            </a:r>
            <a:endParaRPr lang="en-US" sz="1300" dirty="0"/>
          </a:p>
        </p:txBody>
      </p:sp>
      <p:pic>
        <p:nvPicPr>
          <p:cNvPr id="7" name="Image 0" descr="/mnt/data/0c38be3c4e.png"/>
          <p:cNvPicPr>
            <a:picLocks noChangeAspect="1"/>
          </p:cNvPicPr>
          <p:nvPr/>
        </p:nvPicPr>
        <p:blipFill>
          <a:blip r:embed="rId3"/>
          <a:srcRect l="12456" r="12456"/>
          <a:stretch/>
        </p:blipFill>
        <p:spPr>
          <a:xfrm>
            <a:off x="6720840" y="1389888"/>
            <a:ext cx="4892040" cy="4343400"/>
          </a:xfrm>
          <a:prstGeom prst="rect">
            <a:avLst/>
          </a:prstGeom>
        </p:spPr>
      </p:pic>
      <p:sp>
        <p:nvSpPr>
          <p:cNvPr id="8" name="Shape 5"/>
          <p:cNvSpPr/>
          <p:nvPr/>
        </p:nvSpPr>
        <p:spPr>
          <a:xfrm>
            <a:off x="6903720" y="5797296"/>
            <a:ext cx="4498848" cy="384048"/>
          </a:xfrm>
          <a:prstGeom prst="roundRect">
            <a:avLst>
              <a:gd name="adj" fmla="val 11905"/>
            </a:avLst>
          </a:prstGeom>
          <a:solidFill>
            <a:srgbClr val="0E2841">
              <a:alpha val="97000"/>
            </a:srgbClr>
          </a:solidFill>
          <a:ln w="20320">
            <a:solidFill>
              <a:srgbClr val="E97132"/>
            </a:solidFill>
            <a:prstDash val="solid"/>
          </a:ln>
        </p:spPr>
      </p:sp>
      <p:sp>
        <p:nvSpPr>
          <p:cNvPr id="9" name="Text 6"/>
          <p:cNvSpPr/>
          <p:nvPr/>
        </p:nvSpPr>
        <p:spPr>
          <a:xfrm>
            <a:off x="7150608" y="5907024"/>
            <a:ext cx="4023360" cy="164592"/>
          </a:xfrm>
          <a:prstGeom prst="rect">
            <a:avLst/>
          </a:prstGeom>
          <a:noFill/>
          <a:ln/>
        </p:spPr>
        <p:txBody>
          <a:bodyPr wrap="square" lIns="0" tIns="0" rIns="0" bIns="0" rtlCol="0" anchor="ctr"/>
          <a:lstStyle/>
          <a:p>
            <a:pPr marL="0" indent="0" algn="ctr">
              <a:buNone/>
            </a:pPr>
            <a:r>
              <a:rPr lang="en-US" sz="950" b="1" dirty="0">
                <a:solidFill>
                  <a:srgbClr val="FFFFFF"/>
                </a:solidFill>
              </a:rPr>
              <a:t>Not another test generator. An intelligent browser investigation agent.</a:t>
            </a:r>
            <a:endParaRPr lang="en-US" sz="950" dirty="0"/>
          </a:p>
        </p:txBody>
      </p:sp>
      <p:sp>
        <p:nvSpPr>
          <p:cNvPr id="25" name="Slide Number Placeholder 0"/>
          <p:cNvSpPr>
            <a:spLocks noGrp="1"/>
          </p:cNvSpPr>
          <p:nvPr>
            <p:ph type="sldNum" sz="quarter" idx="4294967295"/>
          </p:nvPr>
        </p:nvSpPr>
        <p:spPr>
          <a:xfrm>
            <a:off x="11777472" y="650138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A899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3776" y="274320"/>
            <a:ext cx="3474720" cy="201168"/>
          </a:xfrm>
          <a:prstGeom prst="rect">
            <a:avLst/>
          </a:prstGeom>
          <a:noFill/>
          <a:ln/>
        </p:spPr>
        <p:txBody>
          <a:bodyPr wrap="square" lIns="0" tIns="0" rIns="0" bIns="0" rtlCol="0" anchor="ctr"/>
          <a:lstStyle/>
          <a:p>
            <a:pPr marL="0" indent="0">
              <a:buNone/>
            </a:pPr>
            <a:r>
              <a:rPr lang="en-US" sz="850" b="1" kern="0" spc="120" dirty="0">
                <a:solidFill>
                  <a:srgbClr val="E97132"/>
                </a:solidFill>
              </a:rPr>
              <a:t>HUMAN-GUIDED AGENT WORKFLOW</a:t>
            </a:r>
            <a:endParaRPr lang="en-US" sz="850" dirty="0"/>
          </a:p>
        </p:txBody>
      </p:sp>
      <p:sp>
        <p:nvSpPr>
          <p:cNvPr id="3" name="Text 1"/>
          <p:cNvSpPr/>
          <p:nvPr/>
        </p:nvSpPr>
        <p:spPr>
          <a:xfrm>
            <a:off x="475488" y="502920"/>
            <a:ext cx="7955280" cy="566928"/>
          </a:xfrm>
          <a:prstGeom prst="rect">
            <a:avLst/>
          </a:prstGeom>
          <a:noFill/>
          <a:ln/>
        </p:spPr>
        <p:txBody>
          <a:bodyPr wrap="square" lIns="0" tIns="0" rIns="0" bIns="0" rtlCol="0" anchor="ctr"/>
          <a:lstStyle/>
          <a:p>
            <a:pPr marL="0" indent="0">
              <a:buNone/>
            </a:pPr>
            <a:r>
              <a:rPr lang="en-US" sz="2500" b="1" dirty="0">
                <a:solidFill>
                  <a:srgbClr val="0E2841"/>
                </a:solidFill>
                <a:latin typeface="Aptos Display" pitchFamily="34" charset="0"/>
                <a:ea typeface="Aptos Display" pitchFamily="34" charset="-122"/>
                <a:cs typeface="Aptos Display" pitchFamily="34" charset="-120"/>
              </a:rPr>
              <a:t>How?</a:t>
            </a:r>
            <a:endParaRPr lang="en-US" sz="2500" dirty="0"/>
          </a:p>
        </p:txBody>
      </p:sp>
      <p:sp>
        <p:nvSpPr>
          <p:cNvPr id="4" name="Shape 2"/>
          <p:cNvSpPr/>
          <p:nvPr/>
        </p:nvSpPr>
        <p:spPr>
          <a:xfrm>
            <a:off x="493776" y="1133856"/>
            <a:ext cx="914400" cy="0"/>
          </a:xfrm>
          <a:prstGeom prst="line">
            <a:avLst/>
          </a:prstGeom>
          <a:noFill/>
          <a:ln w="38100">
            <a:solidFill>
              <a:srgbClr val="E97132"/>
            </a:solidFill>
            <a:prstDash val="solid"/>
          </a:ln>
        </p:spPr>
      </p:sp>
      <p:pic>
        <p:nvPicPr>
          <p:cNvPr id="5" name="Image 0" descr="/mnt/data/1602c692d3.png"/>
          <p:cNvPicPr>
            <a:picLocks noChangeAspect="1"/>
          </p:cNvPicPr>
          <p:nvPr/>
        </p:nvPicPr>
        <p:blipFill>
          <a:blip r:embed="rId3"/>
          <a:stretch>
            <a:fillRect/>
          </a:stretch>
        </p:blipFill>
        <p:spPr>
          <a:xfrm>
            <a:off x="502920" y="1504188"/>
            <a:ext cx="6583680" cy="4389120"/>
          </a:xfrm>
          <a:prstGeom prst="rect">
            <a:avLst/>
          </a:prstGeom>
        </p:spPr>
      </p:pic>
      <p:sp>
        <p:nvSpPr>
          <p:cNvPr id="6" name="Shape 3"/>
          <p:cNvSpPr/>
          <p:nvPr/>
        </p:nvSpPr>
        <p:spPr>
          <a:xfrm>
            <a:off x="7315200" y="1325880"/>
            <a:ext cx="393192" cy="393192"/>
          </a:xfrm>
          <a:prstGeom prst="ellipse">
            <a:avLst/>
          </a:prstGeom>
          <a:solidFill>
            <a:srgbClr val="156082"/>
          </a:solidFill>
          <a:ln w="12700">
            <a:solidFill>
              <a:srgbClr val="FFFFFF"/>
            </a:solidFill>
            <a:prstDash val="solid"/>
          </a:ln>
        </p:spPr>
      </p:sp>
      <p:sp>
        <p:nvSpPr>
          <p:cNvPr id="7" name="Text 4"/>
          <p:cNvSpPr/>
          <p:nvPr/>
        </p:nvSpPr>
        <p:spPr>
          <a:xfrm>
            <a:off x="7315200" y="1408176"/>
            <a:ext cx="393192" cy="146304"/>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8" name="Text 5"/>
          <p:cNvSpPr/>
          <p:nvPr/>
        </p:nvSpPr>
        <p:spPr>
          <a:xfrm>
            <a:off x="7836408" y="1298448"/>
            <a:ext cx="3566160" cy="228600"/>
          </a:xfrm>
          <a:prstGeom prst="rect">
            <a:avLst/>
          </a:prstGeom>
          <a:noFill/>
          <a:ln/>
        </p:spPr>
        <p:txBody>
          <a:bodyPr wrap="square" lIns="0" tIns="0" rIns="0" bIns="0" rtlCol="0" anchor="ctr"/>
          <a:lstStyle/>
          <a:p>
            <a:pPr marL="0" indent="0">
              <a:buNone/>
            </a:pPr>
            <a:r>
              <a:rPr lang="en-US" sz="1250" b="1" dirty="0">
                <a:solidFill>
                  <a:srgbClr val="0E2841"/>
                </a:solidFill>
              </a:rPr>
              <a:t>Issue intake</a:t>
            </a:r>
            <a:endParaRPr lang="en-US" sz="1250" dirty="0"/>
          </a:p>
        </p:txBody>
      </p:sp>
      <p:sp>
        <p:nvSpPr>
          <p:cNvPr id="9" name="Text 6"/>
          <p:cNvSpPr/>
          <p:nvPr/>
        </p:nvSpPr>
        <p:spPr>
          <a:xfrm>
            <a:off x="7836408" y="1545336"/>
            <a:ext cx="3611880" cy="384048"/>
          </a:xfrm>
          <a:prstGeom prst="rect">
            <a:avLst/>
          </a:prstGeom>
          <a:noFill/>
          <a:ln/>
        </p:spPr>
        <p:txBody>
          <a:bodyPr wrap="square" lIns="0" tIns="0" rIns="0" bIns="0" rtlCol="0" anchor="ctr"/>
          <a:lstStyle/>
          <a:p>
            <a:pPr marL="0" indent="0">
              <a:buNone/>
            </a:pPr>
            <a:r>
              <a:rPr lang="en-US" sz="930" dirty="0">
                <a:solidFill>
                  <a:srgbClr val="526372"/>
                </a:solidFill>
              </a:rPr>
              <a:t>QA, customer or another authorized team reports the flow, expected result and observed symptom.</a:t>
            </a:r>
            <a:endParaRPr lang="en-US" sz="930" dirty="0"/>
          </a:p>
        </p:txBody>
      </p:sp>
      <p:sp>
        <p:nvSpPr>
          <p:cNvPr id="10" name="Shape 7"/>
          <p:cNvSpPr/>
          <p:nvPr/>
        </p:nvSpPr>
        <p:spPr>
          <a:xfrm>
            <a:off x="7511796" y="1737360"/>
            <a:ext cx="0" cy="329184"/>
          </a:xfrm>
          <a:prstGeom prst="line">
            <a:avLst/>
          </a:prstGeom>
          <a:noFill/>
          <a:ln w="17780">
            <a:solidFill>
              <a:srgbClr val="B5C8D5"/>
            </a:solidFill>
            <a:prstDash val="solid"/>
          </a:ln>
        </p:spPr>
      </p:sp>
      <p:sp>
        <p:nvSpPr>
          <p:cNvPr id="11" name="Shape 8"/>
          <p:cNvSpPr/>
          <p:nvPr/>
        </p:nvSpPr>
        <p:spPr>
          <a:xfrm>
            <a:off x="7315200" y="2093976"/>
            <a:ext cx="393192" cy="393192"/>
          </a:xfrm>
          <a:prstGeom prst="ellipse">
            <a:avLst/>
          </a:prstGeom>
          <a:solidFill>
            <a:srgbClr val="E97132"/>
          </a:solidFill>
          <a:ln w="12700">
            <a:solidFill>
              <a:srgbClr val="FFFFFF"/>
            </a:solidFill>
            <a:prstDash val="solid"/>
          </a:ln>
        </p:spPr>
      </p:sp>
      <p:sp>
        <p:nvSpPr>
          <p:cNvPr id="12" name="Text 9"/>
          <p:cNvSpPr/>
          <p:nvPr/>
        </p:nvSpPr>
        <p:spPr>
          <a:xfrm>
            <a:off x="7315200" y="2176272"/>
            <a:ext cx="393192" cy="146304"/>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3" name="Text 10"/>
          <p:cNvSpPr/>
          <p:nvPr/>
        </p:nvSpPr>
        <p:spPr>
          <a:xfrm>
            <a:off x="7836408" y="2066544"/>
            <a:ext cx="3566160" cy="228600"/>
          </a:xfrm>
          <a:prstGeom prst="rect">
            <a:avLst/>
          </a:prstGeom>
          <a:noFill/>
          <a:ln/>
        </p:spPr>
        <p:txBody>
          <a:bodyPr wrap="square" lIns="0" tIns="0" rIns="0" bIns="0" rtlCol="0" anchor="ctr"/>
          <a:lstStyle/>
          <a:p>
            <a:pPr marL="0" indent="0">
              <a:buNone/>
            </a:pPr>
            <a:r>
              <a:rPr lang="en-US" sz="1250" b="1" dirty="0">
                <a:solidFill>
                  <a:srgbClr val="0E2841"/>
                </a:solidFill>
              </a:rPr>
              <a:t>Plan + approve</a:t>
            </a:r>
            <a:endParaRPr lang="en-US" sz="1250" dirty="0"/>
          </a:p>
        </p:txBody>
      </p:sp>
      <p:sp>
        <p:nvSpPr>
          <p:cNvPr id="14" name="Text 11"/>
          <p:cNvSpPr/>
          <p:nvPr/>
        </p:nvSpPr>
        <p:spPr>
          <a:xfrm>
            <a:off x="7836408" y="2313432"/>
            <a:ext cx="3611880" cy="384048"/>
          </a:xfrm>
          <a:prstGeom prst="rect">
            <a:avLst/>
          </a:prstGeom>
          <a:noFill/>
          <a:ln/>
        </p:spPr>
        <p:txBody>
          <a:bodyPr wrap="square" lIns="0" tIns="0" rIns="0" bIns="0" rtlCol="0" anchor="ctr"/>
          <a:lstStyle/>
          <a:p>
            <a:pPr marL="0" indent="0">
              <a:buNone/>
            </a:pPr>
            <a:r>
              <a:rPr lang="en-US" sz="930" dirty="0">
                <a:solidFill>
                  <a:srgbClr val="526372"/>
                </a:solidFill>
              </a:rPr>
              <a:t>DeepSeek proposes ranked variations. QA approves none, some or all.</a:t>
            </a:r>
            <a:endParaRPr lang="en-US" sz="930" dirty="0"/>
          </a:p>
        </p:txBody>
      </p:sp>
      <p:sp>
        <p:nvSpPr>
          <p:cNvPr id="15" name="Shape 12"/>
          <p:cNvSpPr/>
          <p:nvPr/>
        </p:nvSpPr>
        <p:spPr>
          <a:xfrm>
            <a:off x="7511796" y="2505456"/>
            <a:ext cx="0" cy="329184"/>
          </a:xfrm>
          <a:prstGeom prst="line">
            <a:avLst/>
          </a:prstGeom>
          <a:noFill/>
          <a:ln w="17780">
            <a:solidFill>
              <a:srgbClr val="B5C8D5"/>
            </a:solidFill>
            <a:prstDash val="solid"/>
          </a:ln>
        </p:spPr>
      </p:sp>
      <p:sp>
        <p:nvSpPr>
          <p:cNvPr id="16" name="Shape 13"/>
          <p:cNvSpPr/>
          <p:nvPr/>
        </p:nvSpPr>
        <p:spPr>
          <a:xfrm>
            <a:off x="7315200" y="2862072"/>
            <a:ext cx="393192" cy="393192"/>
          </a:xfrm>
          <a:prstGeom prst="ellipse">
            <a:avLst/>
          </a:prstGeom>
          <a:solidFill>
            <a:srgbClr val="156082"/>
          </a:solidFill>
          <a:ln w="12700">
            <a:solidFill>
              <a:srgbClr val="FFFFFF"/>
            </a:solidFill>
            <a:prstDash val="solid"/>
          </a:ln>
        </p:spPr>
      </p:sp>
      <p:sp>
        <p:nvSpPr>
          <p:cNvPr id="17" name="Text 14"/>
          <p:cNvSpPr/>
          <p:nvPr/>
        </p:nvSpPr>
        <p:spPr>
          <a:xfrm>
            <a:off x="7315200" y="2944368"/>
            <a:ext cx="393192" cy="146304"/>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8" name="Text 15"/>
          <p:cNvSpPr/>
          <p:nvPr/>
        </p:nvSpPr>
        <p:spPr>
          <a:xfrm>
            <a:off x="7836408" y="2834640"/>
            <a:ext cx="3566160" cy="228600"/>
          </a:xfrm>
          <a:prstGeom prst="rect">
            <a:avLst/>
          </a:prstGeom>
          <a:noFill/>
          <a:ln/>
        </p:spPr>
        <p:txBody>
          <a:bodyPr wrap="square" lIns="0" tIns="0" rIns="0" bIns="0" rtlCol="0" anchor="ctr"/>
          <a:lstStyle/>
          <a:p>
            <a:pPr marL="0" indent="0">
              <a:buNone/>
            </a:pPr>
            <a:r>
              <a:rPr lang="en-US" sz="1250" b="1" dirty="0">
                <a:solidFill>
                  <a:srgbClr val="0E2841"/>
                </a:solidFill>
              </a:rPr>
              <a:t>Execute + capture</a:t>
            </a:r>
            <a:endParaRPr lang="en-US" sz="1250" dirty="0"/>
          </a:p>
        </p:txBody>
      </p:sp>
      <p:sp>
        <p:nvSpPr>
          <p:cNvPr id="19" name="Text 16"/>
          <p:cNvSpPr/>
          <p:nvPr/>
        </p:nvSpPr>
        <p:spPr>
          <a:xfrm>
            <a:off x="7836408" y="3081528"/>
            <a:ext cx="3611880" cy="384048"/>
          </a:xfrm>
          <a:prstGeom prst="rect">
            <a:avLst/>
          </a:prstGeom>
          <a:noFill/>
          <a:ln/>
        </p:spPr>
        <p:txBody>
          <a:bodyPr wrap="square" lIns="0" tIns="0" rIns="0" bIns="0" rtlCol="0" anchor="ctr"/>
          <a:lstStyle/>
          <a:p>
            <a:pPr marL="0" indent="0">
              <a:buNone/>
            </a:pPr>
            <a:r>
              <a:rPr lang="en-US" sz="930" dirty="0">
                <a:solidFill>
                  <a:srgbClr val="526372"/>
                </a:solidFill>
              </a:rPr>
              <a:t>Playwright runs controlled Chrome sessions and preserves redacted evidence per run.</a:t>
            </a:r>
            <a:endParaRPr lang="en-US" sz="930" dirty="0"/>
          </a:p>
        </p:txBody>
      </p:sp>
      <p:sp>
        <p:nvSpPr>
          <p:cNvPr id="20" name="Shape 17"/>
          <p:cNvSpPr/>
          <p:nvPr/>
        </p:nvSpPr>
        <p:spPr>
          <a:xfrm>
            <a:off x="7511796" y="3273552"/>
            <a:ext cx="0" cy="329184"/>
          </a:xfrm>
          <a:prstGeom prst="line">
            <a:avLst/>
          </a:prstGeom>
          <a:noFill/>
          <a:ln w="17780">
            <a:solidFill>
              <a:srgbClr val="B5C8D5"/>
            </a:solidFill>
            <a:prstDash val="solid"/>
          </a:ln>
        </p:spPr>
      </p:sp>
      <p:sp>
        <p:nvSpPr>
          <p:cNvPr id="21" name="Shape 18"/>
          <p:cNvSpPr/>
          <p:nvPr/>
        </p:nvSpPr>
        <p:spPr>
          <a:xfrm>
            <a:off x="7315200" y="3630168"/>
            <a:ext cx="393192" cy="393192"/>
          </a:xfrm>
          <a:prstGeom prst="ellipse">
            <a:avLst/>
          </a:prstGeom>
          <a:solidFill>
            <a:srgbClr val="E97132"/>
          </a:solidFill>
          <a:ln w="12700">
            <a:solidFill>
              <a:srgbClr val="FFFFFF"/>
            </a:solidFill>
            <a:prstDash val="solid"/>
          </a:ln>
        </p:spPr>
      </p:sp>
      <p:sp>
        <p:nvSpPr>
          <p:cNvPr id="22" name="Text 19"/>
          <p:cNvSpPr/>
          <p:nvPr/>
        </p:nvSpPr>
        <p:spPr>
          <a:xfrm>
            <a:off x="7315200" y="3712464"/>
            <a:ext cx="393192" cy="146304"/>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3" name="Text 20"/>
          <p:cNvSpPr/>
          <p:nvPr/>
        </p:nvSpPr>
        <p:spPr>
          <a:xfrm>
            <a:off x="7836408" y="3602736"/>
            <a:ext cx="3566160" cy="228600"/>
          </a:xfrm>
          <a:prstGeom prst="rect">
            <a:avLst/>
          </a:prstGeom>
          <a:noFill/>
          <a:ln/>
        </p:spPr>
        <p:txBody>
          <a:bodyPr wrap="square" lIns="0" tIns="0" rIns="0" bIns="0" rtlCol="0" anchor="ctr"/>
          <a:lstStyle/>
          <a:p>
            <a:pPr marL="0" indent="0">
              <a:buNone/>
            </a:pPr>
            <a:r>
              <a:rPr lang="en-US" sz="1250" b="1" dirty="0">
                <a:solidFill>
                  <a:srgbClr val="0E2841"/>
                </a:solidFill>
              </a:rPr>
              <a:t>Review failure</a:t>
            </a:r>
            <a:endParaRPr lang="en-US" sz="1250" dirty="0"/>
          </a:p>
        </p:txBody>
      </p:sp>
      <p:sp>
        <p:nvSpPr>
          <p:cNvPr id="24" name="Text 21"/>
          <p:cNvSpPr/>
          <p:nvPr/>
        </p:nvSpPr>
        <p:spPr>
          <a:xfrm>
            <a:off x="7836408" y="3849624"/>
            <a:ext cx="3611880" cy="384048"/>
          </a:xfrm>
          <a:prstGeom prst="rect">
            <a:avLst/>
          </a:prstGeom>
          <a:noFill/>
          <a:ln/>
        </p:spPr>
        <p:txBody>
          <a:bodyPr wrap="square" lIns="0" tIns="0" rIns="0" bIns="0" rtlCol="0" anchor="ctr"/>
          <a:lstStyle/>
          <a:p>
            <a:pPr marL="0" indent="0">
              <a:buNone/>
            </a:pPr>
            <a:r>
              <a:rPr lang="en-US" sz="930" dirty="0">
                <a:solidFill>
                  <a:srgbClr val="526372"/>
                </a:solidFill>
              </a:rPr>
              <a:t>AI clusters outcomes. QA approves the target failure signature and relevant runs.</a:t>
            </a:r>
            <a:endParaRPr lang="en-US" sz="930" dirty="0"/>
          </a:p>
        </p:txBody>
      </p:sp>
      <p:sp>
        <p:nvSpPr>
          <p:cNvPr id="25" name="Shape 22"/>
          <p:cNvSpPr/>
          <p:nvPr/>
        </p:nvSpPr>
        <p:spPr>
          <a:xfrm>
            <a:off x="7511796" y="4041648"/>
            <a:ext cx="0" cy="329184"/>
          </a:xfrm>
          <a:prstGeom prst="line">
            <a:avLst/>
          </a:prstGeom>
          <a:noFill/>
          <a:ln w="17780">
            <a:solidFill>
              <a:srgbClr val="B5C8D5"/>
            </a:solidFill>
            <a:prstDash val="solid"/>
          </a:ln>
        </p:spPr>
      </p:sp>
      <p:sp>
        <p:nvSpPr>
          <p:cNvPr id="26" name="Shape 23"/>
          <p:cNvSpPr/>
          <p:nvPr/>
        </p:nvSpPr>
        <p:spPr>
          <a:xfrm>
            <a:off x="7315200" y="4398264"/>
            <a:ext cx="393192" cy="393192"/>
          </a:xfrm>
          <a:prstGeom prst="ellipse">
            <a:avLst/>
          </a:prstGeom>
          <a:solidFill>
            <a:srgbClr val="156082"/>
          </a:solidFill>
          <a:ln w="12700">
            <a:solidFill>
              <a:srgbClr val="FFFFFF"/>
            </a:solidFill>
            <a:prstDash val="solid"/>
          </a:ln>
        </p:spPr>
      </p:sp>
      <p:sp>
        <p:nvSpPr>
          <p:cNvPr id="27" name="Text 24"/>
          <p:cNvSpPr/>
          <p:nvPr/>
        </p:nvSpPr>
        <p:spPr>
          <a:xfrm>
            <a:off x="7315200" y="4480560"/>
            <a:ext cx="393192" cy="146304"/>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28" name="Text 25"/>
          <p:cNvSpPr/>
          <p:nvPr/>
        </p:nvSpPr>
        <p:spPr>
          <a:xfrm>
            <a:off x="7836408" y="4370832"/>
            <a:ext cx="3566160" cy="228600"/>
          </a:xfrm>
          <a:prstGeom prst="rect">
            <a:avLst/>
          </a:prstGeom>
          <a:noFill/>
          <a:ln/>
        </p:spPr>
        <p:txBody>
          <a:bodyPr wrap="square" lIns="0" tIns="0" rIns="0" bIns="0" rtlCol="0" anchor="ctr"/>
          <a:lstStyle/>
          <a:p>
            <a:pPr marL="0" indent="0">
              <a:buNone/>
            </a:pPr>
            <a:r>
              <a:rPr lang="en-US" sz="1250" b="1" dirty="0">
                <a:solidFill>
                  <a:srgbClr val="0E2841"/>
                </a:solidFill>
              </a:rPr>
              <a:t>Repeat + analyze</a:t>
            </a:r>
            <a:endParaRPr lang="en-US" sz="1250" dirty="0"/>
          </a:p>
        </p:txBody>
      </p:sp>
      <p:sp>
        <p:nvSpPr>
          <p:cNvPr id="29" name="Text 26"/>
          <p:cNvSpPr/>
          <p:nvPr/>
        </p:nvSpPr>
        <p:spPr>
          <a:xfrm>
            <a:off x="7836408" y="4617720"/>
            <a:ext cx="3611880" cy="384048"/>
          </a:xfrm>
          <a:prstGeom prst="rect">
            <a:avLst/>
          </a:prstGeom>
          <a:noFill/>
          <a:ln/>
        </p:spPr>
        <p:txBody>
          <a:bodyPr wrap="square" lIns="0" tIns="0" rIns="0" bIns="0" rtlCol="0" anchor="ctr"/>
          <a:lstStyle/>
          <a:p>
            <a:pPr marL="0" indent="0">
              <a:buNone/>
            </a:pPr>
            <a:r>
              <a:rPr lang="en-US" sz="930" dirty="0">
                <a:solidFill>
                  <a:srgbClr val="526372"/>
                </a:solidFill>
              </a:rPr>
              <a:t>Approved cases run at configured frequency; deterministic metrics compare pass vs fail.</a:t>
            </a:r>
            <a:endParaRPr lang="en-US" sz="930" dirty="0"/>
          </a:p>
        </p:txBody>
      </p:sp>
      <p:sp>
        <p:nvSpPr>
          <p:cNvPr id="30" name="Shape 27"/>
          <p:cNvSpPr/>
          <p:nvPr/>
        </p:nvSpPr>
        <p:spPr>
          <a:xfrm>
            <a:off x="7511796" y="4809744"/>
            <a:ext cx="0" cy="329184"/>
          </a:xfrm>
          <a:prstGeom prst="line">
            <a:avLst/>
          </a:prstGeom>
          <a:noFill/>
          <a:ln w="17780">
            <a:solidFill>
              <a:srgbClr val="B5C8D5"/>
            </a:solidFill>
            <a:prstDash val="solid"/>
          </a:ln>
        </p:spPr>
      </p:sp>
      <p:sp>
        <p:nvSpPr>
          <p:cNvPr id="31" name="Shape 28"/>
          <p:cNvSpPr/>
          <p:nvPr/>
        </p:nvSpPr>
        <p:spPr>
          <a:xfrm>
            <a:off x="7315200" y="5166360"/>
            <a:ext cx="393192" cy="393192"/>
          </a:xfrm>
          <a:prstGeom prst="ellipse">
            <a:avLst/>
          </a:prstGeom>
          <a:solidFill>
            <a:srgbClr val="E97132"/>
          </a:solidFill>
          <a:ln w="12700">
            <a:solidFill>
              <a:srgbClr val="FFFFFF"/>
            </a:solidFill>
            <a:prstDash val="solid"/>
          </a:ln>
        </p:spPr>
      </p:sp>
      <p:sp>
        <p:nvSpPr>
          <p:cNvPr id="32" name="Text 29"/>
          <p:cNvSpPr/>
          <p:nvPr/>
        </p:nvSpPr>
        <p:spPr>
          <a:xfrm>
            <a:off x="7315200" y="5248656"/>
            <a:ext cx="393192" cy="146304"/>
          </a:xfrm>
          <a:prstGeom prst="rect">
            <a:avLst/>
          </a:prstGeom>
          <a:noFill/>
          <a:ln/>
        </p:spPr>
        <p:txBody>
          <a:bodyPr wrap="square" lIns="0" tIns="0" rIns="0" bIns="0" rtlCol="0" anchor="ctr"/>
          <a:lstStyle/>
          <a:p>
            <a:pPr marL="0" indent="0" algn="ctr">
              <a:buNone/>
            </a:pPr>
            <a:r>
              <a:rPr lang="en-US" sz="900" b="1" dirty="0">
                <a:solidFill>
                  <a:srgbClr val="FFFFFF"/>
                </a:solidFill>
              </a:rPr>
              <a:t>6</a:t>
            </a:r>
            <a:endParaRPr lang="en-US" sz="900" dirty="0"/>
          </a:p>
        </p:txBody>
      </p:sp>
      <p:sp>
        <p:nvSpPr>
          <p:cNvPr id="33" name="Text 30"/>
          <p:cNvSpPr/>
          <p:nvPr/>
        </p:nvSpPr>
        <p:spPr>
          <a:xfrm>
            <a:off x="7836408" y="5138928"/>
            <a:ext cx="3566160" cy="228600"/>
          </a:xfrm>
          <a:prstGeom prst="rect">
            <a:avLst/>
          </a:prstGeom>
          <a:noFill/>
          <a:ln/>
        </p:spPr>
        <p:txBody>
          <a:bodyPr wrap="square" lIns="0" tIns="0" rIns="0" bIns="0" rtlCol="0" anchor="ctr"/>
          <a:lstStyle/>
          <a:p>
            <a:pPr marL="0" indent="0">
              <a:buNone/>
            </a:pPr>
            <a:r>
              <a:rPr lang="en-US" sz="1250" b="1" dirty="0">
                <a:solidFill>
                  <a:srgbClr val="0E2841"/>
                </a:solidFill>
              </a:rPr>
              <a:t>Minimize + export</a:t>
            </a:r>
            <a:endParaRPr lang="en-US" sz="1250" dirty="0"/>
          </a:p>
        </p:txBody>
      </p:sp>
      <p:sp>
        <p:nvSpPr>
          <p:cNvPr id="34" name="Text 31"/>
          <p:cNvSpPr/>
          <p:nvPr/>
        </p:nvSpPr>
        <p:spPr>
          <a:xfrm>
            <a:off x="7836408" y="5385816"/>
            <a:ext cx="3611880" cy="384048"/>
          </a:xfrm>
          <a:prstGeom prst="rect">
            <a:avLst/>
          </a:prstGeom>
          <a:noFill/>
          <a:ln/>
        </p:spPr>
        <p:txBody>
          <a:bodyPr wrap="square" lIns="0" tIns="0" rIns="0" bIns="0" rtlCol="0" anchor="ctr"/>
          <a:lstStyle/>
          <a:p>
            <a:pPr marL="0" indent="0">
              <a:buNone/>
            </a:pPr>
            <a:r>
              <a:rPr lang="en-US" sz="930" dirty="0">
                <a:solidFill>
                  <a:srgbClr val="526372"/>
                </a:solidFill>
              </a:rPr>
              <a:t>Agent reduces steps, revalidates, and creates Playwright reproducer plus Jira-ready report.</a:t>
            </a:r>
            <a:endParaRPr lang="en-US" sz="930" dirty="0"/>
          </a:p>
        </p:txBody>
      </p:sp>
      <p:sp>
        <p:nvSpPr>
          <p:cNvPr id="35" name="Slide Number Placeholder 0"/>
          <p:cNvSpPr>
            <a:spLocks noGrp="1"/>
          </p:cNvSpPr>
          <p:nvPr>
            <p:ph type="sldNum" sz="quarter" idx="4294967295"/>
          </p:nvPr>
        </p:nvSpPr>
        <p:spPr>
          <a:xfrm>
            <a:off x="11777472" y="650138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A899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3776" y="274320"/>
            <a:ext cx="3474720" cy="201168"/>
          </a:xfrm>
          <a:prstGeom prst="rect">
            <a:avLst/>
          </a:prstGeom>
          <a:noFill/>
          <a:ln/>
        </p:spPr>
        <p:txBody>
          <a:bodyPr wrap="square" lIns="0" tIns="0" rIns="0" bIns="0" rtlCol="0" anchor="ctr"/>
          <a:lstStyle/>
          <a:p>
            <a:pPr marL="0" indent="0">
              <a:buNone/>
            </a:pPr>
            <a:r>
              <a:rPr lang="en-US" sz="850" b="1" kern="0" spc="120" dirty="0">
                <a:solidFill>
                  <a:srgbClr val="E97132"/>
                </a:solidFill>
              </a:rPr>
              <a:t>WHY IT MATTERS</a:t>
            </a:r>
            <a:endParaRPr lang="en-US" sz="850" dirty="0"/>
          </a:p>
        </p:txBody>
      </p:sp>
      <p:sp>
        <p:nvSpPr>
          <p:cNvPr id="3" name="Text 1"/>
          <p:cNvSpPr/>
          <p:nvPr/>
        </p:nvSpPr>
        <p:spPr>
          <a:xfrm>
            <a:off x="475488" y="502920"/>
            <a:ext cx="7955280" cy="566928"/>
          </a:xfrm>
          <a:prstGeom prst="rect">
            <a:avLst/>
          </a:prstGeom>
          <a:noFill/>
          <a:ln/>
        </p:spPr>
        <p:txBody>
          <a:bodyPr wrap="square" lIns="0" tIns="0" rIns="0" bIns="0" rtlCol="0" anchor="ctr"/>
          <a:lstStyle/>
          <a:p>
            <a:pPr marL="0" indent="0">
              <a:buNone/>
            </a:pPr>
            <a:r>
              <a:rPr lang="en-US" sz="2500" b="1" dirty="0">
                <a:solidFill>
                  <a:srgbClr val="0E2841"/>
                </a:solidFill>
                <a:latin typeface="Aptos Display" pitchFamily="34" charset="0"/>
                <a:ea typeface="Aptos Display" pitchFamily="34" charset="-122"/>
                <a:cs typeface="Aptos Display" pitchFamily="34" charset="-120"/>
              </a:rPr>
              <a:t>Impact</a:t>
            </a:r>
            <a:endParaRPr lang="en-US" sz="2500" dirty="0"/>
          </a:p>
        </p:txBody>
      </p:sp>
      <p:sp>
        <p:nvSpPr>
          <p:cNvPr id="4" name="Shape 2"/>
          <p:cNvSpPr/>
          <p:nvPr/>
        </p:nvSpPr>
        <p:spPr>
          <a:xfrm>
            <a:off x="493776" y="1133856"/>
            <a:ext cx="914400" cy="0"/>
          </a:xfrm>
          <a:prstGeom prst="line">
            <a:avLst/>
          </a:prstGeom>
          <a:noFill/>
          <a:ln w="38100">
            <a:solidFill>
              <a:srgbClr val="E97132"/>
            </a:solidFill>
            <a:prstDash val="solid"/>
          </a:ln>
        </p:spPr>
      </p:sp>
      <p:pic>
        <p:nvPicPr>
          <p:cNvPr id="5" name="Image 0" descr="/mnt/data/344168896c.png"/>
          <p:cNvPicPr>
            <a:picLocks noChangeAspect="1"/>
          </p:cNvPicPr>
          <p:nvPr/>
        </p:nvPicPr>
        <p:blipFill>
          <a:blip r:embed="rId3"/>
          <a:srcRect l="8824" r="8824"/>
          <a:stretch/>
        </p:blipFill>
        <p:spPr>
          <a:xfrm>
            <a:off x="6839712" y="1335024"/>
            <a:ext cx="4800600" cy="3886200"/>
          </a:xfrm>
          <a:prstGeom prst="rect">
            <a:avLst/>
          </a:prstGeom>
        </p:spPr>
      </p:pic>
      <p:sp>
        <p:nvSpPr>
          <p:cNvPr id="6" name="Shape 3"/>
          <p:cNvSpPr/>
          <p:nvPr/>
        </p:nvSpPr>
        <p:spPr>
          <a:xfrm>
            <a:off x="566928" y="1389888"/>
            <a:ext cx="5806440" cy="1124712"/>
          </a:xfrm>
          <a:prstGeom prst="roundRect">
            <a:avLst>
              <a:gd name="adj" fmla="val 4878"/>
            </a:avLst>
          </a:prstGeom>
          <a:solidFill>
            <a:srgbClr val="FFFFFF"/>
          </a:solidFill>
          <a:ln w="12700">
            <a:solidFill>
              <a:srgbClr val="D7E2EA"/>
            </a:solidFill>
            <a:prstDash val="solid"/>
          </a:ln>
          <a:effectLst>
            <a:outerShdw blurRad="15240" dist="6350" dir="2700000" algn="bl" rotWithShape="0">
              <a:srgbClr val="000000">
                <a:alpha val="13000"/>
              </a:srgbClr>
            </a:outerShdw>
          </a:effectLst>
        </p:spPr>
      </p:sp>
      <p:sp>
        <p:nvSpPr>
          <p:cNvPr id="7" name="Shape 4"/>
          <p:cNvSpPr/>
          <p:nvPr/>
        </p:nvSpPr>
        <p:spPr>
          <a:xfrm>
            <a:off x="566928" y="1389888"/>
            <a:ext cx="64008" cy="1124712"/>
          </a:xfrm>
          <a:prstGeom prst="rect">
            <a:avLst/>
          </a:prstGeom>
          <a:solidFill>
            <a:srgbClr val="E97132"/>
          </a:solidFill>
          <a:ln w="12700">
            <a:solidFill>
              <a:srgbClr val="E97132"/>
            </a:solidFill>
            <a:prstDash val="solid"/>
          </a:ln>
        </p:spPr>
      </p:sp>
      <p:sp>
        <p:nvSpPr>
          <p:cNvPr id="8" name="Text 5"/>
          <p:cNvSpPr/>
          <p:nvPr/>
        </p:nvSpPr>
        <p:spPr>
          <a:xfrm>
            <a:off x="786384" y="1554480"/>
            <a:ext cx="5422392" cy="292608"/>
          </a:xfrm>
          <a:prstGeom prst="rect">
            <a:avLst/>
          </a:prstGeom>
          <a:noFill/>
          <a:ln/>
        </p:spPr>
        <p:txBody>
          <a:bodyPr wrap="square" lIns="0" tIns="0" rIns="0" bIns="0" rtlCol="0" anchor="ctr"/>
          <a:lstStyle/>
          <a:p>
            <a:pPr marL="0" indent="0">
              <a:buNone/>
            </a:pPr>
            <a:r>
              <a:rPr lang="en-US" sz="1400" b="1" dirty="0">
                <a:solidFill>
                  <a:srgbClr val="0E2841"/>
                </a:solidFill>
              </a:rPr>
              <a:t>Faster first-level investigation</a:t>
            </a:r>
            <a:endParaRPr lang="en-US" sz="1400" dirty="0"/>
          </a:p>
        </p:txBody>
      </p:sp>
      <p:sp>
        <p:nvSpPr>
          <p:cNvPr id="9" name="Text 6"/>
          <p:cNvSpPr/>
          <p:nvPr/>
        </p:nvSpPr>
        <p:spPr>
          <a:xfrm>
            <a:off x="786384" y="1920240"/>
            <a:ext cx="5422392" cy="429768"/>
          </a:xfrm>
          <a:prstGeom prst="rect">
            <a:avLst/>
          </a:prstGeom>
          <a:noFill/>
          <a:ln/>
        </p:spPr>
        <p:txBody>
          <a:bodyPr wrap="square" lIns="254" tIns="254" rIns="254" bIns="254" rtlCol="0" anchor="t"/>
          <a:lstStyle/>
          <a:p>
            <a:pPr marL="0" indent="0">
              <a:buNone/>
            </a:pPr>
            <a:r>
              <a:rPr lang="en-US" sz="1050" dirty="0">
                <a:solidFill>
                  <a:srgbClr val="526372"/>
                </a:solidFill>
              </a:rPr>
              <a:t>AI reviews repeated session evidence and surfaces the differences most associated with the reported failure.</a:t>
            </a:r>
            <a:endParaRPr lang="en-US" sz="1050" dirty="0"/>
          </a:p>
        </p:txBody>
      </p:sp>
      <p:sp>
        <p:nvSpPr>
          <p:cNvPr id="10" name="Shape 7"/>
          <p:cNvSpPr/>
          <p:nvPr/>
        </p:nvSpPr>
        <p:spPr>
          <a:xfrm>
            <a:off x="566928" y="2688336"/>
            <a:ext cx="5806440" cy="1124712"/>
          </a:xfrm>
          <a:prstGeom prst="roundRect">
            <a:avLst>
              <a:gd name="adj" fmla="val 4878"/>
            </a:avLst>
          </a:prstGeom>
          <a:solidFill>
            <a:srgbClr val="FFFFFF"/>
          </a:solidFill>
          <a:ln w="12700">
            <a:solidFill>
              <a:srgbClr val="D7E2EA"/>
            </a:solidFill>
            <a:prstDash val="solid"/>
          </a:ln>
          <a:effectLst>
            <a:outerShdw blurRad="15240" dist="6350" dir="2700000" algn="bl" rotWithShape="0">
              <a:srgbClr val="000000">
                <a:alpha val="13000"/>
              </a:srgbClr>
            </a:outerShdw>
          </a:effectLst>
        </p:spPr>
      </p:sp>
      <p:sp>
        <p:nvSpPr>
          <p:cNvPr id="11" name="Shape 8"/>
          <p:cNvSpPr/>
          <p:nvPr/>
        </p:nvSpPr>
        <p:spPr>
          <a:xfrm>
            <a:off x="566928" y="2688336"/>
            <a:ext cx="64008" cy="1124712"/>
          </a:xfrm>
          <a:prstGeom prst="rect">
            <a:avLst/>
          </a:prstGeom>
          <a:solidFill>
            <a:srgbClr val="0F9ED5"/>
          </a:solidFill>
          <a:ln w="12700">
            <a:solidFill>
              <a:srgbClr val="0F9ED5"/>
            </a:solidFill>
            <a:prstDash val="solid"/>
          </a:ln>
        </p:spPr>
      </p:sp>
      <p:sp>
        <p:nvSpPr>
          <p:cNvPr id="12" name="Text 9"/>
          <p:cNvSpPr/>
          <p:nvPr/>
        </p:nvSpPr>
        <p:spPr>
          <a:xfrm>
            <a:off x="786384" y="2852928"/>
            <a:ext cx="5422392" cy="292608"/>
          </a:xfrm>
          <a:prstGeom prst="rect">
            <a:avLst/>
          </a:prstGeom>
          <a:noFill/>
          <a:ln/>
        </p:spPr>
        <p:txBody>
          <a:bodyPr wrap="square" lIns="0" tIns="0" rIns="0" bIns="0" rtlCol="0" anchor="ctr"/>
          <a:lstStyle/>
          <a:p>
            <a:pPr marL="0" indent="0">
              <a:buNone/>
            </a:pPr>
            <a:r>
              <a:rPr lang="en-US" sz="1400" b="1" dirty="0">
                <a:solidFill>
                  <a:srgbClr val="0E2841"/>
                </a:solidFill>
              </a:rPr>
              <a:t>Broader repeat coverage</a:t>
            </a:r>
            <a:endParaRPr lang="en-US" sz="1400" dirty="0"/>
          </a:p>
        </p:txBody>
      </p:sp>
      <p:sp>
        <p:nvSpPr>
          <p:cNvPr id="13" name="Text 10"/>
          <p:cNvSpPr/>
          <p:nvPr/>
        </p:nvSpPr>
        <p:spPr>
          <a:xfrm>
            <a:off x="786384" y="3218688"/>
            <a:ext cx="5422392" cy="429768"/>
          </a:xfrm>
          <a:prstGeom prst="rect">
            <a:avLst/>
          </a:prstGeom>
          <a:noFill/>
          <a:ln/>
        </p:spPr>
        <p:txBody>
          <a:bodyPr wrap="square" lIns="254" tIns="254" rIns="254" bIns="254" rtlCol="0" anchor="t"/>
          <a:lstStyle/>
          <a:p>
            <a:pPr marL="0" indent="0">
              <a:buNone/>
            </a:pPr>
            <a:r>
              <a:rPr lang="en-US" sz="1050" dirty="0">
                <a:solidFill>
                  <a:srgbClr val="526372"/>
                </a:solidFill>
              </a:rPr>
              <a:t>QA can run approved flows at configurable frequency across desktop and mobile-emulated Chrome profiles.</a:t>
            </a:r>
            <a:endParaRPr lang="en-US" sz="1050" dirty="0"/>
          </a:p>
        </p:txBody>
      </p:sp>
      <p:sp>
        <p:nvSpPr>
          <p:cNvPr id="14" name="Shape 11"/>
          <p:cNvSpPr/>
          <p:nvPr/>
        </p:nvSpPr>
        <p:spPr>
          <a:xfrm>
            <a:off x="566928" y="3986784"/>
            <a:ext cx="5806440" cy="1124712"/>
          </a:xfrm>
          <a:prstGeom prst="roundRect">
            <a:avLst>
              <a:gd name="adj" fmla="val 4878"/>
            </a:avLst>
          </a:prstGeom>
          <a:solidFill>
            <a:srgbClr val="FFFFFF"/>
          </a:solidFill>
          <a:ln w="12700">
            <a:solidFill>
              <a:srgbClr val="D7E2EA"/>
            </a:solidFill>
            <a:prstDash val="solid"/>
          </a:ln>
          <a:effectLst>
            <a:outerShdw blurRad="15240" dist="6350" dir="2700000" algn="bl" rotWithShape="0">
              <a:srgbClr val="000000">
                <a:alpha val="13000"/>
              </a:srgbClr>
            </a:outerShdw>
          </a:effectLst>
        </p:spPr>
      </p:sp>
      <p:sp>
        <p:nvSpPr>
          <p:cNvPr id="15" name="Shape 12"/>
          <p:cNvSpPr/>
          <p:nvPr/>
        </p:nvSpPr>
        <p:spPr>
          <a:xfrm>
            <a:off x="566928" y="3986784"/>
            <a:ext cx="64008" cy="1124712"/>
          </a:xfrm>
          <a:prstGeom prst="rect">
            <a:avLst/>
          </a:prstGeom>
          <a:solidFill>
            <a:srgbClr val="156082"/>
          </a:solidFill>
          <a:ln w="12700">
            <a:solidFill>
              <a:srgbClr val="156082"/>
            </a:solidFill>
            <a:prstDash val="solid"/>
          </a:ln>
        </p:spPr>
      </p:sp>
      <p:sp>
        <p:nvSpPr>
          <p:cNvPr id="16" name="Text 13"/>
          <p:cNvSpPr/>
          <p:nvPr/>
        </p:nvSpPr>
        <p:spPr>
          <a:xfrm>
            <a:off x="786384" y="4151376"/>
            <a:ext cx="5422392" cy="292608"/>
          </a:xfrm>
          <a:prstGeom prst="rect">
            <a:avLst/>
          </a:prstGeom>
          <a:noFill/>
          <a:ln/>
        </p:spPr>
        <p:txBody>
          <a:bodyPr wrap="square" lIns="0" tIns="0" rIns="0" bIns="0" rtlCol="0" anchor="ctr"/>
          <a:lstStyle/>
          <a:p>
            <a:pPr marL="0" indent="0">
              <a:buNone/>
            </a:pPr>
            <a:r>
              <a:rPr lang="en-US" sz="1400" b="1" dirty="0">
                <a:solidFill>
                  <a:srgbClr val="0E2841"/>
                </a:solidFill>
              </a:rPr>
              <a:t>Stronger developer handoff</a:t>
            </a:r>
            <a:endParaRPr lang="en-US" sz="1400" dirty="0"/>
          </a:p>
        </p:txBody>
      </p:sp>
      <p:sp>
        <p:nvSpPr>
          <p:cNvPr id="17" name="Text 14"/>
          <p:cNvSpPr/>
          <p:nvPr/>
        </p:nvSpPr>
        <p:spPr>
          <a:xfrm>
            <a:off x="786384" y="4517136"/>
            <a:ext cx="5422392" cy="429768"/>
          </a:xfrm>
          <a:prstGeom prst="rect">
            <a:avLst/>
          </a:prstGeom>
          <a:noFill/>
          <a:ln/>
        </p:spPr>
        <p:txBody>
          <a:bodyPr wrap="square" lIns="254" tIns="254" rIns="254" bIns="254" rtlCol="0" anchor="t"/>
          <a:lstStyle/>
          <a:p>
            <a:pPr marL="0" indent="0">
              <a:buNone/>
            </a:pPr>
            <a:r>
              <a:rPr lang="en-US" sz="1050" dirty="0">
                <a:solidFill>
                  <a:srgbClr val="526372"/>
                </a:solidFill>
              </a:rPr>
              <a:t>Every defect package contains steps, occurrence counts, timelines, evidence references and a reusable Playwright test.</a:t>
            </a:r>
            <a:endParaRPr lang="en-US" sz="1050" dirty="0"/>
          </a:p>
        </p:txBody>
      </p:sp>
      <p:sp>
        <p:nvSpPr>
          <p:cNvPr id="18" name="Shape 15"/>
          <p:cNvSpPr/>
          <p:nvPr/>
        </p:nvSpPr>
        <p:spPr>
          <a:xfrm>
            <a:off x="566928" y="5358384"/>
            <a:ext cx="11064240" cy="685800"/>
          </a:xfrm>
          <a:prstGeom prst="roundRect">
            <a:avLst>
              <a:gd name="adj" fmla="val 6667"/>
            </a:avLst>
          </a:prstGeom>
          <a:solidFill>
            <a:srgbClr val="0E2841"/>
          </a:solidFill>
          <a:ln w="12700">
            <a:solidFill>
              <a:srgbClr val="0E2841"/>
            </a:solidFill>
            <a:prstDash val="solid"/>
          </a:ln>
        </p:spPr>
      </p:sp>
      <p:sp>
        <p:nvSpPr>
          <p:cNvPr id="19" name="Text 16"/>
          <p:cNvSpPr/>
          <p:nvPr/>
        </p:nvSpPr>
        <p:spPr>
          <a:xfrm>
            <a:off x="822960" y="5559552"/>
            <a:ext cx="1097280" cy="201168"/>
          </a:xfrm>
          <a:prstGeom prst="rect">
            <a:avLst/>
          </a:prstGeom>
          <a:noFill/>
          <a:ln/>
        </p:spPr>
        <p:txBody>
          <a:bodyPr wrap="square" lIns="0" tIns="0" rIns="0" bIns="0" rtlCol="0" anchor="ctr"/>
          <a:lstStyle/>
          <a:p>
            <a:pPr marL="0" indent="0">
              <a:buNone/>
            </a:pPr>
            <a:r>
              <a:rPr lang="en-US" sz="900" b="1" kern="0" spc="110" dirty="0">
                <a:solidFill>
                  <a:srgbClr val="8CCCE8"/>
                </a:solidFill>
              </a:rPr>
              <a:t>INITIAL PILOT</a:t>
            </a:r>
            <a:endParaRPr lang="en-US" sz="900" dirty="0"/>
          </a:p>
        </p:txBody>
      </p:sp>
      <p:sp>
        <p:nvSpPr>
          <p:cNvPr id="20" name="Text 17"/>
          <p:cNvSpPr/>
          <p:nvPr/>
        </p:nvSpPr>
        <p:spPr>
          <a:xfrm>
            <a:off x="1938528" y="5495544"/>
            <a:ext cx="2103120" cy="292608"/>
          </a:xfrm>
          <a:prstGeom prst="rect">
            <a:avLst/>
          </a:prstGeom>
          <a:noFill/>
          <a:ln/>
        </p:spPr>
        <p:txBody>
          <a:bodyPr wrap="square" lIns="0" tIns="0" rIns="0" bIns="0" rtlCol="0" anchor="ctr"/>
          <a:lstStyle/>
          <a:p>
            <a:pPr marL="0" indent="0">
              <a:buNone/>
            </a:pPr>
            <a:r>
              <a:rPr lang="en-US" sz="1500" b="1" dirty="0">
                <a:solidFill>
                  <a:srgbClr val="FFFFFF"/>
                </a:solidFill>
              </a:rPr>
              <a:t>Up to 20 QA engineers</a:t>
            </a:r>
            <a:endParaRPr lang="en-US" sz="1500" dirty="0"/>
          </a:p>
        </p:txBody>
      </p:sp>
      <p:sp>
        <p:nvSpPr>
          <p:cNvPr id="21" name="Text 18"/>
          <p:cNvSpPr/>
          <p:nvPr/>
        </p:nvSpPr>
        <p:spPr>
          <a:xfrm>
            <a:off x="4160520" y="5541264"/>
            <a:ext cx="7086600" cy="228600"/>
          </a:xfrm>
          <a:prstGeom prst="rect">
            <a:avLst/>
          </a:prstGeom>
          <a:noFill/>
          <a:ln/>
        </p:spPr>
        <p:txBody>
          <a:bodyPr wrap="square" lIns="0" tIns="0" rIns="0" bIns="0" rtlCol="0" anchor="ctr"/>
          <a:lstStyle/>
          <a:p>
            <a:pPr marL="0" indent="0">
              <a:buNone/>
            </a:pPr>
            <a:r>
              <a:rPr lang="en-US" sz="1050" dirty="0">
                <a:solidFill>
                  <a:srgbClr val="D8EFF8"/>
                </a:solidFill>
              </a:rPr>
              <a:t>Measure: investigation time • useful reproductions • evidence completeness • report quality</a:t>
            </a:r>
            <a:endParaRPr lang="en-US" sz="1050" dirty="0"/>
          </a:p>
        </p:txBody>
      </p:sp>
      <p:sp>
        <p:nvSpPr>
          <p:cNvPr id="25" name="Slide Number Placeholder 0"/>
          <p:cNvSpPr>
            <a:spLocks noGrp="1"/>
          </p:cNvSpPr>
          <p:nvPr>
            <p:ph type="sldNum" sz="quarter" idx="4294967295"/>
          </p:nvPr>
        </p:nvSpPr>
        <p:spPr>
          <a:xfrm>
            <a:off x="11777472" y="650138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A899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3776" y="274320"/>
            <a:ext cx="3474720" cy="201168"/>
          </a:xfrm>
          <a:prstGeom prst="rect">
            <a:avLst/>
          </a:prstGeom>
          <a:noFill/>
          <a:ln/>
        </p:spPr>
        <p:txBody>
          <a:bodyPr wrap="square" lIns="0" tIns="0" rIns="0" bIns="0" rtlCol="0" anchor="ctr"/>
          <a:lstStyle/>
          <a:p>
            <a:pPr marL="0" indent="0">
              <a:buNone/>
            </a:pPr>
            <a:r>
              <a:rPr lang="en-US" sz="850" b="1" kern="0" spc="120" dirty="0">
                <a:solidFill>
                  <a:srgbClr val="E97132"/>
                </a:solidFill>
              </a:rPr>
              <a:t>FROM LOCAL INVESTIGATOR TO TEAM CAPABILITY</a:t>
            </a:r>
            <a:endParaRPr lang="en-US" sz="850" dirty="0"/>
          </a:p>
        </p:txBody>
      </p:sp>
      <p:sp>
        <p:nvSpPr>
          <p:cNvPr id="3" name="Text 1"/>
          <p:cNvSpPr/>
          <p:nvPr/>
        </p:nvSpPr>
        <p:spPr>
          <a:xfrm>
            <a:off x="475488" y="502920"/>
            <a:ext cx="7955280" cy="566928"/>
          </a:xfrm>
          <a:prstGeom prst="rect">
            <a:avLst/>
          </a:prstGeom>
          <a:noFill/>
          <a:ln/>
        </p:spPr>
        <p:txBody>
          <a:bodyPr wrap="square" lIns="0" tIns="0" rIns="0" bIns="0" rtlCol="0" anchor="ctr"/>
          <a:lstStyle/>
          <a:p>
            <a:pPr marL="0" indent="0">
              <a:buNone/>
            </a:pPr>
            <a:r>
              <a:rPr lang="en-US" sz="2500" b="1" dirty="0">
                <a:solidFill>
                  <a:srgbClr val="0E2841"/>
                </a:solidFill>
                <a:latin typeface="Aptos Display" pitchFamily="34" charset="0"/>
                <a:ea typeface="Aptos Display" pitchFamily="34" charset="-122"/>
                <a:cs typeface="Aptos Display" pitchFamily="34" charset="-120"/>
              </a:rPr>
              <a:t>Future Potential</a:t>
            </a:r>
            <a:endParaRPr lang="en-US" sz="2500" dirty="0"/>
          </a:p>
        </p:txBody>
      </p:sp>
      <p:sp>
        <p:nvSpPr>
          <p:cNvPr id="4" name="Shape 2"/>
          <p:cNvSpPr/>
          <p:nvPr/>
        </p:nvSpPr>
        <p:spPr>
          <a:xfrm>
            <a:off x="493776" y="1133856"/>
            <a:ext cx="914400" cy="0"/>
          </a:xfrm>
          <a:prstGeom prst="line">
            <a:avLst/>
          </a:prstGeom>
          <a:noFill/>
          <a:ln w="38100">
            <a:solidFill>
              <a:srgbClr val="E97132"/>
            </a:solidFill>
            <a:prstDash val="solid"/>
          </a:ln>
        </p:spPr>
      </p:sp>
      <p:pic>
        <p:nvPicPr>
          <p:cNvPr id="5" name="Image 0" descr="/mnt/data/71be07c0ef.png"/>
          <p:cNvPicPr>
            <a:picLocks noChangeAspect="1"/>
          </p:cNvPicPr>
          <p:nvPr/>
        </p:nvPicPr>
        <p:blipFill>
          <a:blip r:embed="rId3"/>
          <a:srcRect l="14531" r="14531"/>
          <a:stretch/>
        </p:blipFill>
        <p:spPr>
          <a:xfrm>
            <a:off x="6629400" y="1325880"/>
            <a:ext cx="5010912" cy="4709160"/>
          </a:xfrm>
          <a:prstGeom prst="rect">
            <a:avLst/>
          </a:prstGeom>
        </p:spPr>
      </p:pic>
      <p:sp>
        <p:nvSpPr>
          <p:cNvPr id="6" name="Shape 3"/>
          <p:cNvSpPr/>
          <p:nvPr/>
        </p:nvSpPr>
        <p:spPr>
          <a:xfrm>
            <a:off x="566928" y="1399032"/>
            <a:ext cx="713232" cy="310896"/>
          </a:xfrm>
          <a:prstGeom prst="roundRect">
            <a:avLst>
              <a:gd name="adj" fmla="val 23529"/>
            </a:avLst>
          </a:prstGeom>
          <a:solidFill>
            <a:srgbClr val="E97132"/>
          </a:solidFill>
          <a:ln w="12700">
            <a:solidFill>
              <a:srgbClr val="E97132"/>
            </a:solidFill>
            <a:prstDash val="solid"/>
          </a:ln>
        </p:spPr>
      </p:sp>
      <p:sp>
        <p:nvSpPr>
          <p:cNvPr id="7" name="Text 4"/>
          <p:cNvSpPr/>
          <p:nvPr/>
        </p:nvSpPr>
        <p:spPr>
          <a:xfrm>
            <a:off x="621792" y="1463040"/>
            <a:ext cx="603504" cy="146304"/>
          </a:xfrm>
          <a:prstGeom prst="rect">
            <a:avLst/>
          </a:prstGeom>
          <a:noFill/>
          <a:ln/>
        </p:spPr>
        <p:txBody>
          <a:bodyPr wrap="square" lIns="0" tIns="0" rIns="0" bIns="0" rtlCol="0" anchor="ctr"/>
          <a:lstStyle/>
          <a:p>
            <a:pPr marL="0" indent="0" algn="ctr">
              <a:buNone/>
            </a:pPr>
            <a:r>
              <a:rPr lang="en-US" sz="850" b="1" dirty="0">
                <a:solidFill>
                  <a:srgbClr val="FFFFFF"/>
                </a:solidFill>
              </a:rPr>
              <a:t>NOW</a:t>
            </a:r>
            <a:endParaRPr lang="en-US" sz="850" dirty="0"/>
          </a:p>
        </p:txBody>
      </p:sp>
      <p:sp>
        <p:nvSpPr>
          <p:cNvPr id="8" name="Text 5"/>
          <p:cNvSpPr/>
          <p:nvPr/>
        </p:nvSpPr>
        <p:spPr>
          <a:xfrm>
            <a:off x="1481328" y="1335024"/>
            <a:ext cx="4480560" cy="274320"/>
          </a:xfrm>
          <a:prstGeom prst="rect">
            <a:avLst/>
          </a:prstGeom>
          <a:noFill/>
          <a:ln/>
        </p:spPr>
        <p:txBody>
          <a:bodyPr wrap="square" lIns="0" tIns="0" rIns="0" bIns="0" rtlCol="0" anchor="ctr"/>
          <a:lstStyle/>
          <a:p>
            <a:pPr marL="0" indent="0">
              <a:buNone/>
            </a:pPr>
            <a:r>
              <a:rPr lang="en-US" sz="1500" b="1" dirty="0">
                <a:solidFill>
                  <a:srgbClr val="0E2841"/>
                </a:solidFill>
              </a:rPr>
              <a:t>Reliable local CLI</a:t>
            </a:r>
            <a:endParaRPr lang="en-US" sz="1500" dirty="0"/>
          </a:p>
        </p:txBody>
      </p:sp>
      <p:sp>
        <p:nvSpPr>
          <p:cNvPr id="9" name="Text 6"/>
          <p:cNvSpPr/>
          <p:nvPr/>
        </p:nvSpPr>
        <p:spPr>
          <a:xfrm>
            <a:off x="1481328" y="1673352"/>
            <a:ext cx="4526280" cy="548640"/>
          </a:xfrm>
          <a:prstGeom prst="rect">
            <a:avLst/>
          </a:prstGeom>
          <a:noFill/>
          <a:ln/>
        </p:spPr>
        <p:txBody>
          <a:bodyPr wrap="square" lIns="0" tIns="0" rIns="0" bIns="0" rtlCol="0" anchor="ctr"/>
          <a:lstStyle/>
          <a:p>
            <a:pPr marL="0" indent="0">
              <a:buNone/>
            </a:pPr>
            <a:r>
              <a:rPr lang="en-US" sz="1050" dirty="0">
                <a:solidFill>
                  <a:srgbClr val="526372"/>
                </a:solidFill>
              </a:rPr>
              <a:t>Chrome desktop + mobile emulation, repeated execution, client-observable evidence, DeepSeek analysis, human approvals.</a:t>
            </a:r>
            <a:endParaRPr lang="en-US" sz="1050" dirty="0"/>
          </a:p>
        </p:txBody>
      </p:sp>
      <p:sp>
        <p:nvSpPr>
          <p:cNvPr id="10" name="Shape 7"/>
          <p:cNvSpPr/>
          <p:nvPr/>
        </p:nvSpPr>
        <p:spPr>
          <a:xfrm>
            <a:off x="923544" y="1764792"/>
            <a:ext cx="0" cy="731520"/>
          </a:xfrm>
          <a:prstGeom prst="line">
            <a:avLst/>
          </a:prstGeom>
          <a:noFill/>
          <a:ln w="25400">
            <a:solidFill>
              <a:srgbClr val="AFC4D2"/>
            </a:solidFill>
            <a:prstDash val="solid"/>
          </a:ln>
        </p:spPr>
      </p:sp>
      <p:sp>
        <p:nvSpPr>
          <p:cNvPr id="11" name="Shape 8"/>
          <p:cNvSpPr/>
          <p:nvPr/>
        </p:nvSpPr>
        <p:spPr>
          <a:xfrm>
            <a:off x="566928" y="2523744"/>
            <a:ext cx="713232" cy="310896"/>
          </a:xfrm>
          <a:prstGeom prst="roundRect">
            <a:avLst>
              <a:gd name="adj" fmla="val 23529"/>
            </a:avLst>
          </a:prstGeom>
          <a:solidFill>
            <a:srgbClr val="156082"/>
          </a:solidFill>
          <a:ln w="12700">
            <a:solidFill>
              <a:srgbClr val="156082"/>
            </a:solidFill>
            <a:prstDash val="solid"/>
          </a:ln>
        </p:spPr>
      </p:sp>
      <p:sp>
        <p:nvSpPr>
          <p:cNvPr id="12" name="Text 9"/>
          <p:cNvSpPr/>
          <p:nvPr/>
        </p:nvSpPr>
        <p:spPr>
          <a:xfrm>
            <a:off x="621792" y="2587752"/>
            <a:ext cx="603504" cy="146304"/>
          </a:xfrm>
          <a:prstGeom prst="rect">
            <a:avLst/>
          </a:prstGeom>
          <a:noFill/>
          <a:ln/>
        </p:spPr>
        <p:txBody>
          <a:bodyPr wrap="square" lIns="0" tIns="0" rIns="0" bIns="0" rtlCol="0" anchor="ctr"/>
          <a:lstStyle/>
          <a:p>
            <a:pPr marL="0" indent="0" algn="ctr">
              <a:buNone/>
            </a:pPr>
            <a:r>
              <a:rPr lang="en-US" sz="850" b="1" dirty="0">
                <a:solidFill>
                  <a:srgbClr val="FFFFFF"/>
                </a:solidFill>
              </a:rPr>
              <a:t>NEXT</a:t>
            </a:r>
            <a:endParaRPr lang="en-US" sz="850" dirty="0"/>
          </a:p>
        </p:txBody>
      </p:sp>
      <p:sp>
        <p:nvSpPr>
          <p:cNvPr id="13" name="Text 10"/>
          <p:cNvSpPr/>
          <p:nvPr/>
        </p:nvSpPr>
        <p:spPr>
          <a:xfrm>
            <a:off x="1481328" y="2459736"/>
            <a:ext cx="4480560" cy="274320"/>
          </a:xfrm>
          <a:prstGeom prst="rect">
            <a:avLst/>
          </a:prstGeom>
          <a:noFill/>
          <a:ln/>
        </p:spPr>
        <p:txBody>
          <a:bodyPr wrap="square" lIns="0" tIns="0" rIns="0" bIns="0" rtlCol="0" anchor="ctr"/>
          <a:lstStyle/>
          <a:p>
            <a:pPr marL="0" indent="0">
              <a:buNone/>
            </a:pPr>
            <a:r>
              <a:rPr lang="en-US" sz="1500" b="1" dirty="0">
                <a:solidFill>
                  <a:srgbClr val="0E2841"/>
                </a:solidFill>
              </a:rPr>
              <a:t>Team workflow</a:t>
            </a:r>
            <a:endParaRPr lang="en-US" sz="1500" dirty="0"/>
          </a:p>
        </p:txBody>
      </p:sp>
      <p:sp>
        <p:nvSpPr>
          <p:cNvPr id="14" name="Text 11"/>
          <p:cNvSpPr/>
          <p:nvPr/>
        </p:nvSpPr>
        <p:spPr>
          <a:xfrm>
            <a:off x="1481328" y="2798064"/>
            <a:ext cx="4526280" cy="548640"/>
          </a:xfrm>
          <a:prstGeom prst="rect">
            <a:avLst/>
          </a:prstGeom>
          <a:noFill/>
          <a:ln/>
        </p:spPr>
        <p:txBody>
          <a:bodyPr wrap="square" lIns="0" tIns="0" rIns="0" bIns="0" rtlCol="0" anchor="ctr"/>
          <a:lstStyle/>
          <a:p>
            <a:pPr marL="0" indent="0">
              <a:buNone/>
            </a:pPr>
            <a:r>
              <a:rPr lang="en-US" sz="1050" dirty="0">
                <a:solidFill>
                  <a:srgbClr val="526372"/>
                </a:solidFill>
              </a:rPr>
              <a:t>Shared UI, role-based access, reusable investigation templates, Jira creation and CI-triggered revalidation.</a:t>
            </a:r>
            <a:endParaRPr lang="en-US" sz="1050" dirty="0"/>
          </a:p>
        </p:txBody>
      </p:sp>
      <p:sp>
        <p:nvSpPr>
          <p:cNvPr id="15" name="Shape 12"/>
          <p:cNvSpPr/>
          <p:nvPr/>
        </p:nvSpPr>
        <p:spPr>
          <a:xfrm>
            <a:off x="923544" y="2889504"/>
            <a:ext cx="0" cy="731520"/>
          </a:xfrm>
          <a:prstGeom prst="line">
            <a:avLst/>
          </a:prstGeom>
          <a:noFill/>
          <a:ln w="25400">
            <a:solidFill>
              <a:srgbClr val="AFC4D2"/>
            </a:solidFill>
            <a:prstDash val="solid"/>
          </a:ln>
        </p:spPr>
      </p:sp>
      <p:sp>
        <p:nvSpPr>
          <p:cNvPr id="16" name="Shape 13"/>
          <p:cNvSpPr/>
          <p:nvPr/>
        </p:nvSpPr>
        <p:spPr>
          <a:xfrm>
            <a:off x="566928" y="3648456"/>
            <a:ext cx="713232" cy="310896"/>
          </a:xfrm>
          <a:prstGeom prst="roundRect">
            <a:avLst>
              <a:gd name="adj" fmla="val 23529"/>
            </a:avLst>
          </a:prstGeom>
          <a:solidFill>
            <a:srgbClr val="156082"/>
          </a:solidFill>
          <a:ln w="12700">
            <a:solidFill>
              <a:srgbClr val="156082"/>
            </a:solidFill>
            <a:prstDash val="solid"/>
          </a:ln>
        </p:spPr>
      </p:sp>
      <p:sp>
        <p:nvSpPr>
          <p:cNvPr id="17" name="Text 14"/>
          <p:cNvSpPr/>
          <p:nvPr/>
        </p:nvSpPr>
        <p:spPr>
          <a:xfrm>
            <a:off x="621792" y="3712464"/>
            <a:ext cx="603504" cy="146304"/>
          </a:xfrm>
          <a:prstGeom prst="rect">
            <a:avLst/>
          </a:prstGeom>
          <a:noFill/>
          <a:ln/>
        </p:spPr>
        <p:txBody>
          <a:bodyPr wrap="square" lIns="0" tIns="0" rIns="0" bIns="0" rtlCol="0" anchor="ctr"/>
          <a:lstStyle/>
          <a:p>
            <a:pPr marL="0" indent="0" algn="ctr">
              <a:buNone/>
            </a:pPr>
            <a:r>
              <a:rPr lang="en-US" sz="850" b="1" dirty="0">
                <a:solidFill>
                  <a:srgbClr val="FFFFFF"/>
                </a:solidFill>
              </a:rPr>
              <a:t>SCALE</a:t>
            </a:r>
            <a:endParaRPr lang="en-US" sz="850" dirty="0"/>
          </a:p>
        </p:txBody>
      </p:sp>
      <p:sp>
        <p:nvSpPr>
          <p:cNvPr id="18" name="Text 15"/>
          <p:cNvSpPr/>
          <p:nvPr/>
        </p:nvSpPr>
        <p:spPr>
          <a:xfrm>
            <a:off x="1481328" y="3584448"/>
            <a:ext cx="4480560" cy="274320"/>
          </a:xfrm>
          <a:prstGeom prst="rect">
            <a:avLst/>
          </a:prstGeom>
          <a:noFill/>
          <a:ln/>
        </p:spPr>
        <p:txBody>
          <a:bodyPr wrap="square" lIns="0" tIns="0" rIns="0" bIns="0" rtlCol="0" anchor="ctr"/>
          <a:lstStyle/>
          <a:p>
            <a:pPr marL="0" indent="0">
              <a:buNone/>
            </a:pPr>
            <a:r>
              <a:rPr lang="en-US" sz="1500" b="1" dirty="0">
                <a:solidFill>
                  <a:srgbClr val="0E2841"/>
                </a:solidFill>
              </a:rPr>
              <a:t>Connected evidence</a:t>
            </a:r>
            <a:endParaRPr lang="en-US" sz="1500" dirty="0"/>
          </a:p>
        </p:txBody>
      </p:sp>
      <p:sp>
        <p:nvSpPr>
          <p:cNvPr id="19" name="Text 16"/>
          <p:cNvSpPr/>
          <p:nvPr/>
        </p:nvSpPr>
        <p:spPr>
          <a:xfrm>
            <a:off x="1481328" y="3922776"/>
            <a:ext cx="4526280" cy="548640"/>
          </a:xfrm>
          <a:prstGeom prst="rect">
            <a:avLst/>
          </a:prstGeom>
          <a:noFill/>
          <a:ln/>
        </p:spPr>
        <p:txBody>
          <a:bodyPr wrap="square" lIns="0" tIns="0" rIns="0" bIns="0" rtlCol="0" anchor="ctr"/>
          <a:lstStyle/>
          <a:p>
            <a:pPr marL="0" indent="0">
              <a:buNone/>
            </a:pPr>
            <a:r>
              <a:rPr lang="en-US" sz="1050" dirty="0">
                <a:solidFill>
                  <a:srgbClr val="526372"/>
                </a:solidFill>
              </a:rPr>
              <a:t>Optional tracing and observability adapters using browser-exposed request IDs, plus larger worker pools.</a:t>
            </a:r>
            <a:endParaRPr lang="en-US" sz="1050" dirty="0"/>
          </a:p>
        </p:txBody>
      </p:sp>
      <p:sp>
        <p:nvSpPr>
          <p:cNvPr id="20" name="Shape 17"/>
          <p:cNvSpPr/>
          <p:nvPr/>
        </p:nvSpPr>
        <p:spPr>
          <a:xfrm>
            <a:off x="923544" y="4014216"/>
            <a:ext cx="0" cy="731520"/>
          </a:xfrm>
          <a:prstGeom prst="line">
            <a:avLst/>
          </a:prstGeom>
          <a:noFill/>
          <a:ln w="25400">
            <a:solidFill>
              <a:srgbClr val="AFC4D2"/>
            </a:solidFill>
            <a:prstDash val="solid"/>
          </a:ln>
        </p:spPr>
      </p:sp>
      <p:sp>
        <p:nvSpPr>
          <p:cNvPr id="21" name="Shape 18"/>
          <p:cNvSpPr/>
          <p:nvPr/>
        </p:nvSpPr>
        <p:spPr>
          <a:xfrm>
            <a:off x="566928" y="4773168"/>
            <a:ext cx="713232" cy="310896"/>
          </a:xfrm>
          <a:prstGeom prst="roundRect">
            <a:avLst>
              <a:gd name="adj" fmla="val 23529"/>
            </a:avLst>
          </a:prstGeom>
          <a:solidFill>
            <a:srgbClr val="156082"/>
          </a:solidFill>
          <a:ln w="12700">
            <a:solidFill>
              <a:srgbClr val="156082"/>
            </a:solidFill>
            <a:prstDash val="solid"/>
          </a:ln>
        </p:spPr>
      </p:sp>
      <p:sp>
        <p:nvSpPr>
          <p:cNvPr id="22" name="Text 19"/>
          <p:cNvSpPr/>
          <p:nvPr/>
        </p:nvSpPr>
        <p:spPr>
          <a:xfrm>
            <a:off x="621792" y="4837176"/>
            <a:ext cx="603504" cy="146304"/>
          </a:xfrm>
          <a:prstGeom prst="rect">
            <a:avLst/>
          </a:prstGeom>
          <a:noFill/>
          <a:ln/>
        </p:spPr>
        <p:txBody>
          <a:bodyPr wrap="square" lIns="0" tIns="0" rIns="0" bIns="0" rtlCol="0" anchor="ctr"/>
          <a:lstStyle/>
          <a:p>
            <a:pPr marL="0" indent="0" algn="ctr">
              <a:buNone/>
            </a:pPr>
            <a:r>
              <a:rPr lang="en-US" sz="850" b="1" dirty="0">
                <a:solidFill>
                  <a:srgbClr val="FFFFFF"/>
                </a:solidFill>
              </a:rPr>
              <a:t>EXPAND</a:t>
            </a:r>
            <a:endParaRPr lang="en-US" sz="850" dirty="0"/>
          </a:p>
        </p:txBody>
      </p:sp>
      <p:sp>
        <p:nvSpPr>
          <p:cNvPr id="23" name="Text 20"/>
          <p:cNvSpPr/>
          <p:nvPr/>
        </p:nvSpPr>
        <p:spPr>
          <a:xfrm>
            <a:off x="1481328" y="4709160"/>
            <a:ext cx="4480560" cy="274320"/>
          </a:xfrm>
          <a:prstGeom prst="rect">
            <a:avLst/>
          </a:prstGeom>
          <a:noFill/>
          <a:ln/>
        </p:spPr>
        <p:txBody>
          <a:bodyPr wrap="square" lIns="0" tIns="0" rIns="0" bIns="0" rtlCol="0" anchor="ctr"/>
          <a:lstStyle/>
          <a:p>
            <a:pPr marL="0" indent="0">
              <a:buNone/>
            </a:pPr>
            <a:r>
              <a:rPr lang="en-US" sz="1500" b="1" dirty="0">
                <a:solidFill>
                  <a:srgbClr val="0E2841"/>
                </a:solidFill>
              </a:rPr>
              <a:t>Wider coverage</a:t>
            </a:r>
            <a:endParaRPr lang="en-US" sz="1500" dirty="0"/>
          </a:p>
        </p:txBody>
      </p:sp>
      <p:sp>
        <p:nvSpPr>
          <p:cNvPr id="24" name="Text 21"/>
          <p:cNvSpPr/>
          <p:nvPr/>
        </p:nvSpPr>
        <p:spPr>
          <a:xfrm>
            <a:off x="1481328" y="5047488"/>
            <a:ext cx="4526280" cy="548640"/>
          </a:xfrm>
          <a:prstGeom prst="rect">
            <a:avLst/>
          </a:prstGeom>
          <a:noFill/>
          <a:ln/>
        </p:spPr>
        <p:txBody>
          <a:bodyPr wrap="square" lIns="0" tIns="0" rIns="0" bIns="0" rtlCol="0" anchor="ctr"/>
          <a:lstStyle/>
          <a:p>
            <a:pPr marL="0" indent="0">
              <a:buNone/>
            </a:pPr>
            <a:r>
              <a:rPr lang="en-US" sz="1050" dirty="0">
                <a:solidFill>
                  <a:srgbClr val="526372"/>
                </a:solidFill>
              </a:rPr>
              <a:t>Additional Chromium profiles, browser engines and real-device execution after separate reliability validation.</a:t>
            </a:r>
            <a:endParaRPr lang="en-US" sz="1050" dirty="0"/>
          </a:p>
        </p:txBody>
      </p:sp>
      <p:sp>
        <p:nvSpPr>
          <p:cNvPr id="25" name="Shape 22"/>
          <p:cNvSpPr/>
          <p:nvPr/>
        </p:nvSpPr>
        <p:spPr>
          <a:xfrm>
            <a:off x="566928" y="5870448"/>
            <a:ext cx="5577840" cy="329184"/>
          </a:xfrm>
          <a:prstGeom prst="roundRect">
            <a:avLst>
              <a:gd name="adj" fmla="val 8333"/>
            </a:avLst>
          </a:prstGeom>
          <a:solidFill>
            <a:srgbClr val="EAF3F7"/>
          </a:solidFill>
          <a:ln w="12700">
            <a:solidFill>
              <a:srgbClr val="B9D4E1"/>
            </a:solidFill>
            <a:prstDash val="solid"/>
          </a:ln>
        </p:spPr>
      </p:sp>
      <p:sp>
        <p:nvSpPr>
          <p:cNvPr id="26" name="Text 23"/>
          <p:cNvSpPr/>
          <p:nvPr/>
        </p:nvSpPr>
        <p:spPr>
          <a:xfrm>
            <a:off x="749808" y="5952744"/>
            <a:ext cx="5212080" cy="155448"/>
          </a:xfrm>
          <a:prstGeom prst="rect">
            <a:avLst/>
          </a:prstGeom>
          <a:noFill/>
          <a:ln/>
        </p:spPr>
        <p:txBody>
          <a:bodyPr wrap="square" lIns="0" tIns="0" rIns="0" bIns="0" rtlCol="0" anchor="ctr"/>
          <a:lstStyle/>
          <a:p>
            <a:pPr marL="0" indent="0" algn="ctr">
              <a:buNone/>
            </a:pPr>
            <a:r>
              <a:rPr lang="en-US" sz="930" b="1" dirty="0">
                <a:solidFill>
                  <a:srgbClr val="156082"/>
                </a:solidFill>
              </a:rPr>
              <a:t>Scale only after deterministic reliability and AI evaluation gates pass.</a:t>
            </a:r>
            <a:endParaRPr lang="en-US" sz="930" dirty="0"/>
          </a:p>
        </p:txBody>
      </p:sp>
      <p:sp>
        <p:nvSpPr>
          <p:cNvPr id="27" name="Slide Number Placeholder 0"/>
          <p:cNvSpPr>
            <a:spLocks noGrp="1"/>
          </p:cNvSpPr>
          <p:nvPr>
            <p:ph type="sldNum" sz="quarter" idx="4294967295"/>
          </p:nvPr>
        </p:nvSpPr>
        <p:spPr>
          <a:xfrm>
            <a:off x="11777472" y="650138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A899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3776" y="274320"/>
            <a:ext cx="3474720" cy="201168"/>
          </a:xfrm>
          <a:prstGeom prst="rect">
            <a:avLst/>
          </a:prstGeom>
          <a:noFill/>
          <a:ln/>
        </p:spPr>
        <p:txBody>
          <a:bodyPr wrap="square" lIns="0" tIns="0" rIns="0" bIns="0" rtlCol="0" anchor="ctr"/>
          <a:lstStyle/>
          <a:p>
            <a:pPr marL="0" indent="0">
              <a:buNone/>
            </a:pPr>
            <a:r>
              <a:rPr lang="en-US" sz="850" b="1" kern="0" spc="120" dirty="0">
                <a:solidFill>
                  <a:srgbClr val="E97132"/>
                </a:solidFill>
              </a:rPr>
              <a:t>DETERMINISTIC EXECUTION, BOUNDED AI INTELLIGENCE</a:t>
            </a:r>
            <a:endParaRPr lang="en-US" sz="850" dirty="0"/>
          </a:p>
        </p:txBody>
      </p:sp>
      <p:sp>
        <p:nvSpPr>
          <p:cNvPr id="3" name="Text 1"/>
          <p:cNvSpPr/>
          <p:nvPr/>
        </p:nvSpPr>
        <p:spPr>
          <a:xfrm>
            <a:off x="475488" y="502920"/>
            <a:ext cx="7955280" cy="566928"/>
          </a:xfrm>
          <a:prstGeom prst="rect">
            <a:avLst/>
          </a:prstGeom>
          <a:noFill/>
          <a:ln/>
        </p:spPr>
        <p:txBody>
          <a:bodyPr wrap="square" lIns="0" tIns="0" rIns="0" bIns="0" rtlCol="0" anchor="ctr"/>
          <a:lstStyle/>
          <a:p>
            <a:pPr marL="0" indent="0">
              <a:buNone/>
            </a:pPr>
            <a:r>
              <a:rPr lang="en-US" sz="2500" b="1" dirty="0">
                <a:solidFill>
                  <a:srgbClr val="0E2841"/>
                </a:solidFill>
                <a:latin typeface="Aptos Display" pitchFamily="34" charset="0"/>
                <a:ea typeface="Aptos Display" pitchFamily="34" charset="-122"/>
                <a:cs typeface="Aptos Display" pitchFamily="34" charset="-120"/>
              </a:rPr>
              <a:t>Technology &amp; Architecture</a:t>
            </a:r>
            <a:endParaRPr lang="en-US" sz="2500" dirty="0"/>
          </a:p>
        </p:txBody>
      </p:sp>
      <p:sp>
        <p:nvSpPr>
          <p:cNvPr id="4" name="Shape 2"/>
          <p:cNvSpPr/>
          <p:nvPr/>
        </p:nvSpPr>
        <p:spPr>
          <a:xfrm>
            <a:off x="493776" y="1133856"/>
            <a:ext cx="914400" cy="0"/>
          </a:xfrm>
          <a:prstGeom prst="line">
            <a:avLst/>
          </a:prstGeom>
          <a:noFill/>
          <a:ln w="38100">
            <a:solidFill>
              <a:srgbClr val="E97132"/>
            </a:solidFill>
            <a:prstDash val="solid"/>
          </a:ln>
        </p:spPr>
      </p:sp>
      <p:sp>
        <p:nvSpPr>
          <p:cNvPr id="5" name="Shape 3"/>
          <p:cNvSpPr/>
          <p:nvPr/>
        </p:nvSpPr>
        <p:spPr>
          <a:xfrm>
            <a:off x="566928" y="1325880"/>
            <a:ext cx="3429000" cy="4041648"/>
          </a:xfrm>
          <a:prstGeom prst="roundRect">
            <a:avLst>
              <a:gd name="adj" fmla="val 1600"/>
            </a:avLst>
          </a:prstGeom>
          <a:solidFill>
            <a:srgbClr val="FFFFFF"/>
          </a:solidFill>
          <a:ln w="15240">
            <a:solidFill>
              <a:srgbClr val="CFDDE6"/>
            </a:solidFill>
            <a:prstDash val="solid"/>
          </a:ln>
          <a:effectLst>
            <a:outerShdw blurRad="13970" dist="5080" dir="2700000" algn="bl" rotWithShape="0">
              <a:srgbClr val="000000">
                <a:alpha val="11000"/>
              </a:srgbClr>
            </a:outerShdw>
          </a:effectLst>
        </p:spPr>
      </p:sp>
      <p:sp>
        <p:nvSpPr>
          <p:cNvPr id="6" name="Shape 4"/>
          <p:cNvSpPr/>
          <p:nvPr/>
        </p:nvSpPr>
        <p:spPr>
          <a:xfrm>
            <a:off x="566928" y="1325880"/>
            <a:ext cx="3429000" cy="585216"/>
          </a:xfrm>
          <a:prstGeom prst="rect">
            <a:avLst/>
          </a:prstGeom>
          <a:solidFill>
            <a:srgbClr val="E97132"/>
          </a:solidFill>
          <a:ln w="12700">
            <a:solidFill>
              <a:srgbClr val="E97132"/>
            </a:solidFill>
            <a:prstDash val="solid"/>
          </a:ln>
        </p:spPr>
      </p:sp>
      <p:sp>
        <p:nvSpPr>
          <p:cNvPr id="7" name="Text 5"/>
          <p:cNvSpPr/>
          <p:nvPr/>
        </p:nvSpPr>
        <p:spPr>
          <a:xfrm>
            <a:off x="713232" y="1517904"/>
            <a:ext cx="3136392" cy="182880"/>
          </a:xfrm>
          <a:prstGeom prst="rect">
            <a:avLst/>
          </a:prstGeom>
          <a:noFill/>
          <a:ln/>
        </p:spPr>
        <p:txBody>
          <a:bodyPr wrap="square" lIns="0" tIns="0" rIns="0" bIns="0" rtlCol="0" anchor="ctr"/>
          <a:lstStyle/>
          <a:p>
            <a:pPr marL="0" indent="0" algn="ctr">
              <a:buNone/>
            </a:pPr>
            <a:r>
              <a:rPr lang="en-US" sz="1100" b="1" kern="0" spc="70" dirty="0">
                <a:solidFill>
                  <a:srgbClr val="FFFFFF"/>
                </a:solidFill>
              </a:rPr>
              <a:t>CONTROL PLANE</a:t>
            </a:r>
            <a:endParaRPr lang="en-US" sz="1100" dirty="0"/>
          </a:p>
        </p:txBody>
      </p:sp>
      <p:sp>
        <p:nvSpPr>
          <p:cNvPr id="8" name="Shape 6"/>
          <p:cNvSpPr/>
          <p:nvPr/>
        </p:nvSpPr>
        <p:spPr>
          <a:xfrm>
            <a:off x="795528" y="2157984"/>
            <a:ext cx="256032" cy="256032"/>
          </a:xfrm>
          <a:prstGeom prst="ellipse">
            <a:avLst/>
          </a:prstGeom>
          <a:solidFill>
            <a:srgbClr val="E97132"/>
          </a:solidFill>
          <a:ln w="12700">
            <a:solidFill>
              <a:srgbClr val="E97132"/>
            </a:solidFill>
            <a:prstDash val="solid"/>
          </a:ln>
        </p:spPr>
      </p:sp>
      <p:sp>
        <p:nvSpPr>
          <p:cNvPr id="9" name="Text 7"/>
          <p:cNvSpPr/>
          <p:nvPr/>
        </p:nvSpPr>
        <p:spPr>
          <a:xfrm>
            <a:off x="795528" y="2212848"/>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a:t>
            </a:r>
            <a:endParaRPr lang="en-US" sz="750" dirty="0"/>
          </a:p>
        </p:txBody>
      </p:sp>
      <p:sp>
        <p:nvSpPr>
          <p:cNvPr id="10" name="Text 8"/>
          <p:cNvSpPr/>
          <p:nvPr/>
        </p:nvSpPr>
        <p:spPr>
          <a:xfrm>
            <a:off x="1170432" y="2139696"/>
            <a:ext cx="2606040" cy="310896"/>
          </a:xfrm>
          <a:prstGeom prst="rect">
            <a:avLst/>
          </a:prstGeom>
          <a:noFill/>
          <a:ln/>
        </p:spPr>
        <p:txBody>
          <a:bodyPr wrap="square" lIns="0" tIns="0" rIns="0" bIns="0" rtlCol="0" anchor="ctr"/>
          <a:lstStyle/>
          <a:p>
            <a:pPr marL="0" indent="0">
              <a:buNone/>
            </a:pPr>
            <a:r>
              <a:rPr lang="en-US" sz="1120" b="1" dirty="0">
                <a:solidFill>
                  <a:srgbClr val="0E2841"/>
                </a:solidFill>
              </a:rPr>
              <a:t>Local TypeScript CLI</a:t>
            </a:r>
            <a:endParaRPr lang="en-US" sz="1120" dirty="0"/>
          </a:p>
        </p:txBody>
      </p:sp>
      <p:sp>
        <p:nvSpPr>
          <p:cNvPr id="11" name="Shape 9"/>
          <p:cNvSpPr/>
          <p:nvPr/>
        </p:nvSpPr>
        <p:spPr>
          <a:xfrm>
            <a:off x="795528" y="2852928"/>
            <a:ext cx="256032" cy="256032"/>
          </a:xfrm>
          <a:prstGeom prst="ellipse">
            <a:avLst/>
          </a:prstGeom>
          <a:solidFill>
            <a:srgbClr val="E97132"/>
          </a:solidFill>
          <a:ln w="12700">
            <a:solidFill>
              <a:srgbClr val="E97132"/>
            </a:solidFill>
            <a:prstDash val="solid"/>
          </a:ln>
        </p:spPr>
      </p:sp>
      <p:sp>
        <p:nvSpPr>
          <p:cNvPr id="12" name="Text 10"/>
          <p:cNvSpPr/>
          <p:nvPr/>
        </p:nvSpPr>
        <p:spPr>
          <a:xfrm>
            <a:off x="795528" y="2907792"/>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a:t>
            </a:r>
            <a:endParaRPr lang="en-US" sz="750" dirty="0"/>
          </a:p>
        </p:txBody>
      </p:sp>
      <p:sp>
        <p:nvSpPr>
          <p:cNvPr id="13" name="Text 11"/>
          <p:cNvSpPr/>
          <p:nvPr/>
        </p:nvSpPr>
        <p:spPr>
          <a:xfrm>
            <a:off x="1170432" y="2834640"/>
            <a:ext cx="2606040" cy="310896"/>
          </a:xfrm>
          <a:prstGeom prst="rect">
            <a:avLst/>
          </a:prstGeom>
          <a:noFill/>
          <a:ln/>
        </p:spPr>
        <p:txBody>
          <a:bodyPr wrap="square" lIns="0" tIns="0" rIns="0" bIns="0" rtlCol="0" anchor="ctr"/>
          <a:lstStyle/>
          <a:p>
            <a:pPr marL="0" indent="0">
              <a:buNone/>
            </a:pPr>
            <a:r>
              <a:rPr lang="en-US" sz="1120" dirty="0">
                <a:solidFill>
                  <a:srgbClr val="0E2841"/>
                </a:solidFill>
              </a:rPr>
              <a:t>Three checksum-bound approval gates</a:t>
            </a:r>
            <a:endParaRPr lang="en-US" sz="1120" dirty="0"/>
          </a:p>
        </p:txBody>
      </p:sp>
      <p:sp>
        <p:nvSpPr>
          <p:cNvPr id="14" name="Shape 12"/>
          <p:cNvSpPr/>
          <p:nvPr/>
        </p:nvSpPr>
        <p:spPr>
          <a:xfrm>
            <a:off x="795528" y="3547872"/>
            <a:ext cx="256032" cy="256032"/>
          </a:xfrm>
          <a:prstGeom prst="ellipse">
            <a:avLst/>
          </a:prstGeom>
          <a:solidFill>
            <a:srgbClr val="E97132"/>
          </a:solidFill>
          <a:ln w="12700">
            <a:solidFill>
              <a:srgbClr val="E97132"/>
            </a:solidFill>
            <a:prstDash val="solid"/>
          </a:ln>
        </p:spPr>
      </p:sp>
      <p:sp>
        <p:nvSpPr>
          <p:cNvPr id="15" name="Text 13"/>
          <p:cNvSpPr/>
          <p:nvPr/>
        </p:nvSpPr>
        <p:spPr>
          <a:xfrm>
            <a:off x="795528" y="3602736"/>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a:t>
            </a:r>
            <a:endParaRPr lang="en-US" sz="750" dirty="0"/>
          </a:p>
        </p:txBody>
      </p:sp>
      <p:sp>
        <p:nvSpPr>
          <p:cNvPr id="16" name="Text 14"/>
          <p:cNvSpPr/>
          <p:nvPr/>
        </p:nvSpPr>
        <p:spPr>
          <a:xfrm>
            <a:off x="1170432" y="3529584"/>
            <a:ext cx="2606040" cy="310896"/>
          </a:xfrm>
          <a:prstGeom prst="rect">
            <a:avLst/>
          </a:prstGeom>
          <a:noFill/>
          <a:ln/>
        </p:spPr>
        <p:txBody>
          <a:bodyPr wrap="square" lIns="0" tIns="0" rIns="0" bIns="0" rtlCol="0" anchor="ctr"/>
          <a:lstStyle/>
          <a:p>
            <a:pPr marL="0" indent="0">
              <a:buNone/>
            </a:pPr>
            <a:r>
              <a:rPr lang="en-US" sz="1120" dirty="0">
                <a:solidFill>
                  <a:srgbClr val="0E2841"/>
                </a:solidFill>
              </a:rPr>
              <a:t>Versioned configuration + schemas</a:t>
            </a:r>
            <a:endParaRPr lang="en-US" sz="1120" dirty="0"/>
          </a:p>
        </p:txBody>
      </p:sp>
      <p:sp>
        <p:nvSpPr>
          <p:cNvPr id="17" name="Shape 15"/>
          <p:cNvSpPr/>
          <p:nvPr/>
        </p:nvSpPr>
        <p:spPr>
          <a:xfrm>
            <a:off x="795528" y="4242816"/>
            <a:ext cx="256032" cy="256032"/>
          </a:xfrm>
          <a:prstGeom prst="ellipse">
            <a:avLst/>
          </a:prstGeom>
          <a:solidFill>
            <a:srgbClr val="E97132"/>
          </a:solidFill>
          <a:ln w="12700">
            <a:solidFill>
              <a:srgbClr val="E97132"/>
            </a:solidFill>
            <a:prstDash val="solid"/>
          </a:ln>
        </p:spPr>
      </p:sp>
      <p:sp>
        <p:nvSpPr>
          <p:cNvPr id="18" name="Text 16"/>
          <p:cNvSpPr/>
          <p:nvPr/>
        </p:nvSpPr>
        <p:spPr>
          <a:xfrm>
            <a:off x="795528" y="4297680"/>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a:t>
            </a:r>
            <a:endParaRPr lang="en-US" sz="750" dirty="0"/>
          </a:p>
        </p:txBody>
      </p:sp>
      <p:sp>
        <p:nvSpPr>
          <p:cNvPr id="19" name="Text 17"/>
          <p:cNvSpPr/>
          <p:nvPr/>
        </p:nvSpPr>
        <p:spPr>
          <a:xfrm>
            <a:off x="1170432" y="4224528"/>
            <a:ext cx="2606040" cy="310896"/>
          </a:xfrm>
          <a:prstGeom prst="rect">
            <a:avLst/>
          </a:prstGeom>
          <a:noFill/>
          <a:ln/>
        </p:spPr>
        <p:txBody>
          <a:bodyPr wrap="square" lIns="0" tIns="0" rIns="0" bIns="0" rtlCol="0" anchor="ctr"/>
          <a:lstStyle/>
          <a:p>
            <a:pPr marL="0" indent="0">
              <a:buNone/>
            </a:pPr>
            <a:r>
              <a:rPr lang="en-US" sz="1120" dirty="0">
                <a:solidFill>
                  <a:srgbClr val="0E2841"/>
                </a:solidFill>
              </a:rPr>
              <a:t>Immutable investigation lineage</a:t>
            </a:r>
            <a:endParaRPr lang="en-US" sz="1120" dirty="0"/>
          </a:p>
        </p:txBody>
      </p:sp>
      <p:sp>
        <p:nvSpPr>
          <p:cNvPr id="20" name="Shape 18"/>
          <p:cNvSpPr/>
          <p:nvPr/>
        </p:nvSpPr>
        <p:spPr>
          <a:xfrm>
            <a:off x="4379976" y="1325880"/>
            <a:ext cx="3429000" cy="4041648"/>
          </a:xfrm>
          <a:prstGeom prst="roundRect">
            <a:avLst>
              <a:gd name="adj" fmla="val 1600"/>
            </a:avLst>
          </a:prstGeom>
          <a:solidFill>
            <a:srgbClr val="FFFFFF"/>
          </a:solidFill>
          <a:ln w="15240">
            <a:solidFill>
              <a:srgbClr val="CFDDE6"/>
            </a:solidFill>
            <a:prstDash val="solid"/>
          </a:ln>
          <a:effectLst>
            <a:outerShdw blurRad="13970" dist="5080" dir="2700000" algn="bl" rotWithShape="0">
              <a:srgbClr val="000000">
                <a:alpha val="11000"/>
              </a:srgbClr>
            </a:outerShdw>
          </a:effectLst>
        </p:spPr>
      </p:sp>
      <p:sp>
        <p:nvSpPr>
          <p:cNvPr id="21" name="Shape 19"/>
          <p:cNvSpPr/>
          <p:nvPr/>
        </p:nvSpPr>
        <p:spPr>
          <a:xfrm>
            <a:off x="4379976" y="1325880"/>
            <a:ext cx="3429000" cy="585216"/>
          </a:xfrm>
          <a:prstGeom prst="rect">
            <a:avLst/>
          </a:prstGeom>
          <a:solidFill>
            <a:srgbClr val="0F9ED5"/>
          </a:solidFill>
          <a:ln w="12700">
            <a:solidFill>
              <a:srgbClr val="0F9ED5"/>
            </a:solidFill>
            <a:prstDash val="solid"/>
          </a:ln>
        </p:spPr>
      </p:sp>
      <p:sp>
        <p:nvSpPr>
          <p:cNvPr id="22" name="Text 20"/>
          <p:cNvSpPr/>
          <p:nvPr/>
        </p:nvSpPr>
        <p:spPr>
          <a:xfrm>
            <a:off x="4526280" y="1517904"/>
            <a:ext cx="3136392" cy="182880"/>
          </a:xfrm>
          <a:prstGeom prst="rect">
            <a:avLst/>
          </a:prstGeom>
          <a:noFill/>
          <a:ln/>
        </p:spPr>
        <p:txBody>
          <a:bodyPr wrap="square" lIns="0" tIns="0" rIns="0" bIns="0" rtlCol="0" anchor="ctr"/>
          <a:lstStyle/>
          <a:p>
            <a:pPr marL="0" indent="0" algn="ctr">
              <a:buNone/>
            </a:pPr>
            <a:r>
              <a:rPr lang="en-US" sz="1100" b="1" kern="0" spc="70" dirty="0">
                <a:solidFill>
                  <a:srgbClr val="FFFFFF"/>
                </a:solidFill>
              </a:rPr>
              <a:t>EXECUTION + EVIDENCE</a:t>
            </a:r>
            <a:endParaRPr lang="en-US" sz="1100" dirty="0"/>
          </a:p>
        </p:txBody>
      </p:sp>
      <p:sp>
        <p:nvSpPr>
          <p:cNvPr id="23" name="Shape 21"/>
          <p:cNvSpPr/>
          <p:nvPr/>
        </p:nvSpPr>
        <p:spPr>
          <a:xfrm>
            <a:off x="4608576" y="2157984"/>
            <a:ext cx="256032" cy="256032"/>
          </a:xfrm>
          <a:prstGeom prst="ellipse">
            <a:avLst/>
          </a:prstGeom>
          <a:solidFill>
            <a:srgbClr val="0F9ED5"/>
          </a:solidFill>
          <a:ln w="12700">
            <a:solidFill>
              <a:srgbClr val="0F9ED5"/>
            </a:solidFill>
            <a:prstDash val="solid"/>
          </a:ln>
        </p:spPr>
      </p:sp>
      <p:sp>
        <p:nvSpPr>
          <p:cNvPr id="24" name="Text 22"/>
          <p:cNvSpPr/>
          <p:nvPr/>
        </p:nvSpPr>
        <p:spPr>
          <a:xfrm>
            <a:off x="4608576" y="2212848"/>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a:t>
            </a:r>
            <a:endParaRPr lang="en-US" sz="750" dirty="0"/>
          </a:p>
        </p:txBody>
      </p:sp>
      <p:sp>
        <p:nvSpPr>
          <p:cNvPr id="25" name="Text 23"/>
          <p:cNvSpPr/>
          <p:nvPr/>
        </p:nvSpPr>
        <p:spPr>
          <a:xfrm>
            <a:off x="4983480" y="2139696"/>
            <a:ext cx="2606040" cy="310896"/>
          </a:xfrm>
          <a:prstGeom prst="rect">
            <a:avLst/>
          </a:prstGeom>
          <a:noFill/>
          <a:ln/>
        </p:spPr>
        <p:txBody>
          <a:bodyPr wrap="square" lIns="0" tIns="0" rIns="0" bIns="0" rtlCol="0" anchor="ctr"/>
          <a:lstStyle/>
          <a:p>
            <a:pPr marL="0" indent="0">
              <a:buNone/>
            </a:pPr>
            <a:r>
              <a:rPr lang="en-US" sz="1120" b="1" dirty="0">
                <a:solidFill>
                  <a:srgbClr val="0E2841"/>
                </a:solidFill>
              </a:rPr>
              <a:t>Playwright + Chromium / CDP</a:t>
            </a:r>
            <a:endParaRPr lang="en-US" sz="1120" dirty="0"/>
          </a:p>
        </p:txBody>
      </p:sp>
      <p:sp>
        <p:nvSpPr>
          <p:cNvPr id="26" name="Shape 24"/>
          <p:cNvSpPr/>
          <p:nvPr/>
        </p:nvSpPr>
        <p:spPr>
          <a:xfrm>
            <a:off x="4608576" y="2852928"/>
            <a:ext cx="256032" cy="256032"/>
          </a:xfrm>
          <a:prstGeom prst="ellipse">
            <a:avLst/>
          </a:prstGeom>
          <a:solidFill>
            <a:srgbClr val="0F9ED5"/>
          </a:solidFill>
          <a:ln w="12700">
            <a:solidFill>
              <a:srgbClr val="0F9ED5"/>
            </a:solidFill>
            <a:prstDash val="solid"/>
          </a:ln>
        </p:spPr>
      </p:sp>
      <p:sp>
        <p:nvSpPr>
          <p:cNvPr id="27" name="Text 25"/>
          <p:cNvSpPr/>
          <p:nvPr/>
        </p:nvSpPr>
        <p:spPr>
          <a:xfrm>
            <a:off x="4608576" y="2907792"/>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a:t>
            </a:r>
            <a:endParaRPr lang="en-US" sz="750" dirty="0"/>
          </a:p>
        </p:txBody>
      </p:sp>
      <p:sp>
        <p:nvSpPr>
          <p:cNvPr id="28" name="Text 26"/>
          <p:cNvSpPr/>
          <p:nvPr/>
        </p:nvSpPr>
        <p:spPr>
          <a:xfrm>
            <a:off x="4983480" y="2834640"/>
            <a:ext cx="2606040" cy="310896"/>
          </a:xfrm>
          <a:prstGeom prst="rect">
            <a:avLst/>
          </a:prstGeom>
          <a:noFill/>
          <a:ln/>
        </p:spPr>
        <p:txBody>
          <a:bodyPr wrap="square" lIns="0" tIns="0" rIns="0" bIns="0" rtlCol="0" anchor="ctr"/>
          <a:lstStyle/>
          <a:p>
            <a:pPr marL="0" indent="0">
              <a:buNone/>
            </a:pPr>
            <a:r>
              <a:rPr lang="en-US" sz="1120" dirty="0">
                <a:solidFill>
                  <a:srgbClr val="0E2841"/>
                </a:solidFill>
              </a:rPr>
              <a:t>SQLite WAL + durable job table</a:t>
            </a:r>
            <a:endParaRPr lang="en-US" sz="1120" dirty="0"/>
          </a:p>
        </p:txBody>
      </p:sp>
      <p:sp>
        <p:nvSpPr>
          <p:cNvPr id="29" name="Shape 27"/>
          <p:cNvSpPr/>
          <p:nvPr/>
        </p:nvSpPr>
        <p:spPr>
          <a:xfrm>
            <a:off x="4608576" y="3547872"/>
            <a:ext cx="256032" cy="256032"/>
          </a:xfrm>
          <a:prstGeom prst="ellipse">
            <a:avLst/>
          </a:prstGeom>
          <a:solidFill>
            <a:srgbClr val="0F9ED5"/>
          </a:solidFill>
          <a:ln w="12700">
            <a:solidFill>
              <a:srgbClr val="0F9ED5"/>
            </a:solidFill>
            <a:prstDash val="solid"/>
          </a:ln>
        </p:spPr>
      </p:sp>
      <p:sp>
        <p:nvSpPr>
          <p:cNvPr id="30" name="Text 28"/>
          <p:cNvSpPr/>
          <p:nvPr/>
        </p:nvSpPr>
        <p:spPr>
          <a:xfrm>
            <a:off x="4608576" y="3602736"/>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a:t>
            </a:r>
            <a:endParaRPr lang="en-US" sz="750" dirty="0"/>
          </a:p>
        </p:txBody>
      </p:sp>
      <p:sp>
        <p:nvSpPr>
          <p:cNvPr id="31" name="Text 29"/>
          <p:cNvSpPr/>
          <p:nvPr/>
        </p:nvSpPr>
        <p:spPr>
          <a:xfrm>
            <a:off x="4983480" y="3529584"/>
            <a:ext cx="2606040" cy="310896"/>
          </a:xfrm>
          <a:prstGeom prst="rect">
            <a:avLst/>
          </a:prstGeom>
          <a:noFill/>
          <a:ln/>
        </p:spPr>
        <p:txBody>
          <a:bodyPr wrap="square" lIns="0" tIns="0" rIns="0" bIns="0" rtlCol="0" anchor="ctr"/>
          <a:lstStyle/>
          <a:p>
            <a:pPr marL="0" indent="0">
              <a:buNone/>
            </a:pPr>
            <a:r>
              <a:rPr lang="en-US" sz="1120" dirty="0">
                <a:solidFill>
                  <a:srgbClr val="0E2841"/>
                </a:solidFill>
              </a:rPr>
              <a:t>Local artifact store + SHA-256</a:t>
            </a:r>
            <a:endParaRPr lang="en-US" sz="1120" dirty="0"/>
          </a:p>
        </p:txBody>
      </p:sp>
      <p:sp>
        <p:nvSpPr>
          <p:cNvPr id="32" name="Shape 30"/>
          <p:cNvSpPr/>
          <p:nvPr/>
        </p:nvSpPr>
        <p:spPr>
          <a:xfrm>
            <a:off x="4608576" y="4242816"/>
            <a:ext cx="256032" cy="256032"/>
          </a:xfrm>
          <a:prstGeom prst="ellipse">
            <a:avLst/>
          </a:prstGeom>
          <a:solidFill>
            <a:srgbClr val="0F9ED5"/>
          </a:solidFill>
          <a:ln w="12700">
            <a:solidFill>
              <a:srgbClr val="0F9ED5"/>
            </a:solidFill>
            <a:prstDash val="solid"/>
          </a:ln>
        </p:spPr>
      </p:sp>
      <p:sp>
        <p:nvSpPr>
          <p:cNvPr id="33" name="Text 31"/>
          <p:cNvSpPr/>
          <p:nvPr/>
        </p:nvSpPr>
        <p:spPr>
          <a:xfrm>
            <a:off x="4608576" y="4297680"/>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a:t>
            </a:r>
            <a:endParaRPr lang="en-US" sz="750" dirty="0"/>
          </a:p>
        </p:txBody>
      </p:sp>
      <p:sp>
        <p:nvSpPr>
          <p:cNvPr id="34" name="Text 32"/>
          <p:cNvSpPr/>
          <p:nvPr/>
        </p:nvSpPr>
        <p:spPr>
          <a:xfrm>
            <a:off x="4983480" y="4224528"/>
            <a:ext cx="2606040" cy="310896"/>
          </a:xfrm>
          <a:prstGeom prst="rect">
            <a:avLst/>
          </a:prstGeom>
          <a:noFill/>
          <a:ln/>
        </p:spPr>
        <p:txBody>
          <a:bodyPr wrap="square" lIns="0" tIns="0" rIns="0" bIns="0" rtlCol="0" anchor="ctr"/>
          <a:lstStyle/>
          <a:p>
            <a:pPr marL="0" indent="0">
              <a:buNone/>
            </a:pPr>
            <a:r>
              <a:rPr lang="en-US" sz="1120" dirty="0">
                <a:solidFill>
                  <a:srgbClr val="0E2841"/>
                </a:solidFill>
              </a:rPr>
              <a:t>Redaction, normalization + metrics</a:t>
            </a:r>
            <a:endParaRPr lang="en-US" sz="1120" dirty="0"/>
          </a:p>
        </p:txBody>
      </p:sp>
      <p:sp>
        <p:nvSpPr>
          <p:cNvPr id="35" name="Shape 33"/>
          <p:cNvSpPr/>
          <p:nvPr/>
        </p:nvSpPr>
        <p:spPr>
          <a:xfrm>
            <a:off x="8193024" y="1325880"/>
            <a:ext cx="3429000" cy="4041648"/>
          </a:xfrm>
          <a:prstGeom prst="roundRect">
            <a:avLst>
              <a:gd name="adj" fmla="val 1600"/>
            </a:avLst>
          </a:prstGeom>
          <a:solidFill>
            <a:srgbClr val="FFFFFF"/>
          </a:solidFill>
          <a:ln w="15240">
            <a:solidFill>
              <a:srgbClr val="CFDDE6"/>
            </a:solidFill>
            <a:prstDash val="solid"/>
          </a:ln>
          <a:effectLst>
            <a:outerShdw blurRad="13970" dist="5080" dir="2700000" algn="bl" rotWithShape="0">
              <a:srgbClr val="000000">
                <a:alpha val="11000"/>
              </a:srgbClr>
            </a:outerShdw>
          </a:effectLst>
        </p:spPr>
      </p:sp>
      <p:sp>
        <p:nvSpPr>
          <p:cNvPr id="36" name="Shape 34"/>
          <p:cNvSpPr/>
          <p:nvPr/>
        </p:nvSpPr>
        <p:spPr>
          <a:xfrm>
            <a:off x="8193024" y="1325880"/>
            <a:ext cx="3429000" cy="585216"/>
          </a:xfrm>
          <a:prstGeom prst="rect">
            <a:avLst/>
          </a:prstGeom>
          <a:solidFill>
            <a:srgbClr val="156082"/>
          </a:solidFill>
          <a:ln w="12700">
            <a:solidFill>
              <a:srgbClr val="156082"/>
            </a:solidFill>
            <a:prstDash val="solid"/>
          </a:ln>
        </p:spPr>
      </p:sp>
      <p:sp>
        <p:nvSpPr>
          <p:cNvPr id="37" name="Text 35"/>
          <p:cNvSpPr/>
          <p:nvPr/>
        </p:nvSpPr>
        <p:spPr>
          <a:xfrm>
            <a:off x="8339328" y="1517904"/>
            <a:ext cx="3136392" cy="182880"/>
          </a:xfrm>
          <a:prstGeom prst="rect">
            <a:avLst/>
          </a:prstGeom>
          <a:noFill/>
          <a:ln/>
        </p:spPr>
        <p:txBody>
          <a:bodyPr wrap="square" lIns="0" tIns="0" rIns="0" bIns="0" rtlCol="0" anchor="ctr"/>
          <a:lstStyle/>
          <a:p>
            <a:pPr marL="0" indent="0" algn="ctr">
              <a:buNone/>
            </a:pPr>
            <a:r>
              <a:rPr lang="en-US" sz="1100" b="1" kern="0" spc="70" dirty="0">
                <a:solidFill>
                  <a:srgbClr val="FFFFFF"/>
                </a:solidFill>
              </a:rPr>
              <a:t>INTELLIGENCE PLANE</a:t>
            </a:r>
            <a:endParaRPr lang="en-US" sz="1100" dirty="0"/>
          </a:p>
        </p:txBody>
      </p:sp>
      <p:sp>
        <p:nvSpPr>
          <p:cNvPr id="38" name="Shape 36"/>
          <p:cNvSpPr/>
          <p:nvPr/>
        </p:nvSpPr>
        <p:spPr>
          <a:xfrm>
            <a:off x="8421624" y="2157984"/>
            <a:ext cx="256032" cy="256032"/>
          </a:xfrm>
          <a:prstGeom prst="ellipse">
            <a:avLst/>
          </a:prstGeom>
          <a:solidFill>
            <a:srgbClr val="156082"/>
          </a:solidFill>
          <a:ln w="12700">
            <a:solidFill>
              <a:srgbClr val="156082"/>
            </a:solidFill>
            <a:prstDash val="solid"/>
          </a:ln>
        </p:spPr>
      </p:sp>
      <p:sp>
        <p:nvSpPr>
          <p:cNvPr id="39" name="Text 37"/>
          <p:cNvSpPr/>
          <p:nvPr/>
        </p:nvSpPr>
        <p:spPr>
          <a:xfrm>
            <a:off x="8421624" y="2212848"/>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a:t>
            </a:r>
            <a:endParaRPr lang="en-US" sz="750" dirty="0"/>
          </a:p>
        </p:txBody>
      </p:sp>
      <p:sp>
        <p:nvSpPr>
          <p:cNvPr id="40" name="Text 38"/>
          <p:cNvSpPr/>
          <p:nvPr/>
        </p:nvSpPr>
        <p:spPr>
          <a:xfrm>
            <a:off x="8796528" y="2139696"/>
            <a:ext cx="2606040" cy="310896"/>
          </a:xfrm>
          <a:prstGeom prst="rect">
            <a:avLst/>
          </a:prstGeom>
          <a:noFill/>
          <a:ln/>
        </p:spPr>
        <p:txBody>
          <a:bodyPr wrap="square" lIns="0" tIns="0" rIns="0" bIns="0" rtlCol="0" anchor="ctr"/>
          <a:lstStyle/>
          <a:p>
            <a:pPr marL="0" indent="0">
              <a:buNone/>
            </a:pPr>
            <a:r>
              <a:rPr lang="en-US" sz="1120" b="1" dirty="0">
                <a:solidFill>
                  <a:srgbClr val="0E2841"/>
                </a:solidFill>
              </a:rPr>
              <a:t>DeepSeek API through LlmProvider</a:t>
            </a:r>
            <a:endParaRPr lang="en-US" sz="1120" dirty="0"/>
          </a:p>
        </p:txBody>
      </p:sp>
      <p:sp>
        <p:nvSpPr>
          <p:cNvPr id="41" name="Shape 39"/>
          <p:cNvSpPr/>
          <p:nvPr/>
        </p:nvSpPr>
        <p:spPr>
          <a:xfrm>
            <a:off x="8421624" y="2852928"/>
            <a:ext cx="256032" cy="256032"/>
          </a:xfrm>
          <a:prstGeom prst="ellipse">
            <a:avLst/>
          </a:prstGeom>
          <a:solidFill>
            <a:srgbClr val="156082"/>
          </a:solidFill>
          <a:ln w="12700">
            <a:solidFill>
              <a:srgbClr val="156082"/>
            </a:solidFill>
            <a:prstDash val="solid"/>
          </a:ln>
        </p:spPr>
      </p:sp>
      <p:sp>
        <p:nvSpPr>
          <p:cNvPr id="42" name="Text 40"/>
          <p:cNvSpPr/>
          <p:nvPr/>
        </p:nvSpPr>
        <p:spPr>
          <a:xfrm>
            <a:off x="8421624" y="2907792"/>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a:t>
            </a:r>
            <a:endParaRPr lang="en-US" sz="750" dirty="0"/>
          </a:p>
        </p:txBody>
      </p:sp>
      <p:sp>
        <p:nvSpPr>
          <p:cNvPr id="43" name="Text 41"/>
          <p:cNvSpPr/>
          <p:nvPr/>
        </p:nvSpPr>
        <p:spPr>
          <a:xfrm>
            <a:off x="8796528" y="2834640"/>
            <a:ext cx="2606040" cy="310896"/>
          </a:xfrm>
          <a:prstGeom prst="rect">
            <a:avLst/>
          </a:prstGeom>
          <a:noFill/>
          <a:ln/>
        </p:spPr>
        <p:txBody>
          <a:bodyPr wrap="square" lIns="0" tIns="0" rIns="0" bIns="0" rtlCol="0" anchor="ctr"/>
          <a:lstStyle/>
          <a:p>
            <a:pPr marL="0" indent="0">
              <a:buNone/>
            </a:pPr>
            <a:r>
              <a:rPr lang="en-US" sz="1120" dirty="0">
                <a:solidFill>
                  <a:srgbClr val="0E2841"/>
                </a:solidFill>
              </a:rPr>
              <a:t>Versioned AI flow artifacts</a:t>
            </a:r>
            <a:endParaRPr lang="en-US" sz="1120" dirty="0"/>
          </a:p>
        </p:txBody>
      </p:sp>
      <p:sp>
        <p:nvSpPr>
          <p:cNvPr id="44" name="Shape 42"/>
          <p:cNvSpPr/>
          <p:nvPr/>
        </p:nvSpPr>
        <p:spPr>
          <a:xfrm>
            <a:off x="8421624" y="3547872"/>
            <a:ext cx="256032" cy="256032"/>
          </a:xfrm>
          <a:prstGeom prst="ellipse">
            <a:avLst/>
          </a:prstGeom>
          <a:solidFill>
            <a:srgbClr val="156082"/>
          </a:solidFill>
          <a:ln w="12700">
            <a:solidFill>
              <a:srgbClr val="156082"/>
            </a:solidFill>
            <a:prstDash val="solid"/>
          </a:ln>
        </p:spPr>
      </p:sp>
      <p:sp>
        <p:nvSpPr>
          <p:cNvPr id="45" name="Text 43"/>
          <p:cNvSpPr/>
          <p:nvPr/>
        </p:nvSpPr>
        <p:spPr>
          <a:xfrm>
            <a:off x="8421624" y="3602736"/>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a:t>
            </a:r>
            <a:endParaRPr lang="en-US" sz="750" dirty="0"/>
          </a:p>
        </p:txBody>
      </p:sp>
      <p:sp>
        <p:nvSpPr>
          <p:cNvPr id="46" name="Text 44"/>
          <p:cNvSpPr/>
          <p:nvPr/>
        </p:nvSpPr>
        <p:spPr>
          <a:xfrm>
            <a:off x="8796528" y="3529584"/>
            <a:ext cx="2606040" cy="310896"/>
          </a:xfrm>
          <a:prstGeom prst="rect">
            <a:avLst/>
          </a:prstGeom>
          <a:noFill/>
          <a:ln/>
        </p:spPr>
        <p:txBody>
          <a:bodyPr wrap="square" lIns="0" tIns="0" rIns="0" bIns="0" rtlCol="0" anchor="ctr"/>
          <a:lstStyle/>
          <a:p>
            <a:pPr marL="0" indent="0">
              <a:buNone/>
            </a:pPr>
            <a:r>
              <a:rPr lang="en-US" sz="1120" dirty="0">
                <a:solidFill>
                  <a:srgbClr val="0E2841"/>
                </a:solidFill>
              </a:rPr>
              <a:t>Read-only evidence tools</a:t>
            </a:r>
            <a:endParaRPr lang="en-US" sz="1120" dirty="0"/>
          </a:p>
        </p:txBody>
      </p:sp>
      <p:sp>
        <p:nvSpPr>
          <p:cNvPr id="47" name="Shape 45"/>
          <p:cNvSpPr/>
          <p:nvPr/>
        </p:nvSpPr>
        <p:spPr>
          <a:xfrm>
            <a:off x="8421624" y="4242816"/>
            <a:ext cx="256032" cy="256032"/>
          </a:xfrm>
          <a:prstGeom prst="ellipse">
            <a:avLst/>
          </a:prstGeom>
          <a:solidFill>
            <a:srgbClr val="156082"/>
          </a:solidFill>
          <a:ln w="12700">
            <a:solidFill>
              <a:srgbClr val="156082"/>
            </a:solidFill>
            <a:prstDash val="solid"/>
          </a:ln>
        </p:spPr>
      </p:sp>
      <p:sp>
        <p:nvSpPr>
          <p:cNvPr id="48" name="Text 46"/>
          <p:cNvSpPr/>
          <p:nvPr/>
        </p:nvSpPr>
        <p:spPr>
          <a:xfrm>
            <a:off x="8421624" y="4297680"/>
            <a:ext cx="256032" cy="91440"/>
          </a:xfrm>
          <a:prstGeom prst="rect">
            <a:avLst/>
          </a:prstGeom>
          <a:noFill/>
          <a:ln/>
        </p:spPr>
        <p:txBody>
          <a:bodyPr wrap="square" lIns="0" tIns="0" rIns="0" bIns="0" rtlCol="0" anchor="ctr"/>
          <a:lstStyle/>
          <a:p>
            <a:pPr marL="0" indent="0" algn="ctr">
              <a:buNone/>
            </a:pPr>
            <a:r>
              <a:rPr lang="en-US" sz="750" b="1" dirty="0">
                <a:solidFill>
                  <a:srgbClr val="FFFFFF"/>
                </a:solidFill>
              </a:rPr>
              <a:t>✓</a:t>
            </a:r>
            <a:endParaRPr lang="en-US" sz="750" dirty="0"/>
          </a:p>
        </p:txBody>
      </p:sp>
      <p:sp>
        <p:nvSpPr>
          <p:cNvPr id="49" name="Text 47"/>
          <p:cNvSpPr/>
          <p:nvPr/>
        </p:nvSpPr>
        <p:spPr>
          <a:xfrm>
            <a:off x="8796528" y="4224528"/>
            <a:ext cx="2606040" cy="310896"/>
          </a:xfrm>
          <a:prstGeom prst="rect">
            <a:avLst/>
          </a:prstGeom>
          <a:noFill/>
          <a:ln/>
        </p:spPr>
        <p:txBody>
          <a:bodyPr wrap="square" lIns="0" tIns="0" rIns="0" bIns="0" rtlCol="0" anchor="ctr"/>
          <a:lstStyle/>
          <a:p>
            <a:pPr marL="0" indent="0">
              <a:buNone/>
            </a:pPr>
            <a:r>
              <a:rPr lang="en-US" sz="1120" dirty="0">
                <a:solidFill>
                  <a:srgbClr val="0E2841"/>
                </a:solidFill>
              </a:rPr>
              <a:t>Schema + reference validation</a:t>
            </a:r>
            <a:endParaRPr lang="en-US" sz="1120" dirty="0"/>
          </a:p>
        </p:txBody>
      </p:sp>
      <p:sp>
        <p:nvSpPr>
          <p:cNvPr id="50" name="Shape 48"/>
          <p:cNvSpPr/>
          <p:nvPr/>
        </p:nvSpPr>
        <p:spPr>
          <a:xfrm>
            <a:off x="4041648" y="2880360"/>
            <a:ext cx="310896" cy="475488"/>
          </a:xfrm>
          <a:prstGeom prst="chevron">
            <a:avLst/>
          </a:prstGeom>
          <a:solidFill>
            <a:srgbClr val="AFC4D2"/>
          </a:solidFill>
          <a:ln w="12700">
            <a:solidFill>
              <a:srgbClr val="AFC4D2"/>
            </a:solidFill>
            <a:prstDash val="solid"/>
          </a:ln>
        </p:spPr>
      </p:sp>
      <p:sp>
        <p:nvSpPr>
          <p:cNvPr id="51" name="Shape 49"/>
          <p:cNvSpPr/>
          <p:nvPr/>
        </p:nvSpPr>
        <p:spPr>
          <a:xfrm>
            <a:off x="7854696" y="2880360"/>
            <a:ext cx="310896" cy="475488"/>
          </a:xfrm>
          <a:prstGeom prst="chevron">
            <a:avLst/>
          </a:prstGeom>
          <a:solidFill>
            <a:srgbClr val="AFC4D2"/>
          </a:solidFill>
          <a:ln w="12700">
            <a:solidFill>
              <a:srgbClr val="AFC4D2"/>
            </a:solidFill>
            <a:prstDash val="solid"/>
          </a:ln>
        </p:spPr>
      </p:sp>
      <p:sp>
        <p:nvSpPr>
          <p:cNvPr id="52" name="Shape 50"/>
          <p:cNvSpPr/>
          <p:nvPr/>
        </p:nvSpPr>
        <p:spPr>
          <a:xfrm>
            <a:off x="566928" y="5596128"/>
            <a:ext cx="11055096" cy="502920"/>
          </a:xfrm>
          <a:prstGeom prst="roundRect">
            <a:avLst>
              <a:gd name="adj" fmla="val 9091"/>
            </a:avLst>
          </a:prstGeom>
          <a:solidFill>
            <a:srgbClr val="0E2841"/>
          </a:solidFill>
          <a:ln w="12700">
            <a:solidFill>
              <a:srgbClr val="0E2841"/>
            </a:solidFill>
            <a:prstDash val="solid"/>
          </a:ln>
        </p:spPr>
      </p:sp>
      <p:sp>
        <p:nvSpPr>
          <p:cNvPr id="53" name="Text 51"/>
          <p:cNvSpPr/>
          <p:nvPr/>
        </p:nvSpPr>
        <p:spPr>
          <a:xfrm>
            <a:off x="804672" y="5760720"/>
            <a:ext cx="10588752" cy="182880"/>
          </a:xfrm>
          <a:prstGeom prst="rect">
            <a:avLst/>
          </a:prstGeom>
          <a:noFill/>
          <a:ln/>
        </p:spPr>
        <p:txBody>
          <a:bodyPr wrap="square" lIns="0" tIns="0" rIns="0" bIns="0" rtlCol="0" anchor="ctr"/>
          <a:lstStyle/>
          <a:p>
            <a:pPr marL="0" indent="0" algn="ctr">
              <a:buNone/>
            </a:pPr>
            <a:r>
              <a:rPr lang="en-US" sz="1050" b="1" dirty="0">
                <a:solidFill>
                  <a:srgbClr val="FFFFFF"/>
                </a:solidFill>
              </a:rPr>
              <a:t>Playwright produces evidence  •  Deterministic software measures it  •  DeepSeek interprets it  •  Humans approve consequential transitions</a:t>
            </a:r>
            <a:endParaRPr lang="en-US" sz="1050" dirty="0"/>
          </a:p>
        </p:txBody>
      </p:sp>
      <p:sp>
        <p:nvSpPr>
          <p:cNvPr id="54" name="Slide Number Placeholder 0"/>
          <p:cNvSpPr>
            <a:spLocks noGrp="1"/>
          </p:cNvSpPr>
          <p:nvPr>
            <p:ph type="sldNum" sz="quarter" idx="4294967295"/>
          </p:nvPr>
        </p:nvSpPr>
        <p:spPr>
          <a:xfrm>
            <a:off x="11777472" y="650138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A8996"/>
                </a:solidFill>
              </a:defRPr>
            </a:lvl1pPr>
          </a:lstStyle>
          <a:p>
            <a:pPr algn="l"/>
            <a:fld id="{F7021451-1387-4CA6-816F-3879F97B5CBC}" type="slidenum">
              <a:rPr lang="en-US" b="0"/>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Team2Primary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ReproAgent: AI-Powered Bug Investigation &amp; Reproduction</dc:title>
  <dc:subject>AI Agentic Buildathon 2026 submission</dc:subject>
  <dc:creator>Gantantra Agrawal</dc:creator>
  <cp:lastModifiedBy>Gantantra Agrawal</cp:lastModifiedBy>
  <cp:revision>2</cp:revision>
  <dcterms:created xsi:type="dcterms:W3CDTF">2026-09-11T06:01:36Z</dcterms:created>
  <dcterms:modified xsi:type="dcterms:W3CDTF">2026-09-11T06:09:10Z</dcterms:modified>
</cp:coreProperties>
</file>